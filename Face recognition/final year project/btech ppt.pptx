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
      <p:font typeface="Old Standard TT"/>
      <p:regular r:id="rId31"/>
      <p:bold r:id="rId32"/>
      <p: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ldStandardTT-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OldStandardTT-italic.fntdata"/><Relationship Id="rId10" Type="http://schemas.openxmlformats.org/officeDocument/2006/relationships/slide" Target="slides/slide5.xml"/><Relationship Id="rId32" Type="http://schemas.openxmlformats.org/officeDocument/2006/relationships/font" Target="fonts/OldStandardTT-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91993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9199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c6f919934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c6f91993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c6f919934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c6f91993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19934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1993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c6f919934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c6f91993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590090352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590090352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590090352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590090352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c6f919934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c6f91993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590090352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590090352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5900903523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590090352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5900903523_1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590090352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5900903523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5900903523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5900903523_1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5900903523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5900903523_1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5900903523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5900903523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5900903523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5900903523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5900903523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6f919934_0_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c6f91993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5900903523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5900903523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590090352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590090352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5900903523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590090352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5900903523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5900903523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20" Type="http://schemas.openxmlformats.org/officeDocument/2006/relationships/hyperlink" Target="http://www.skipser.com/p/2/p/android-as-webcam.html" TargetMode="External"/><Relationship Id="rId11" Type="http://schemas.openxmlformats.org/officeDocument/2006/relationships/hyperlink" Target="https://www.youtube.com/watch?v=ej9wFtHZu4c" TargetMode="External"/><Relationship Id="rId10" Type="http://schemas.openxmlformats.org/officeDocument/2006/relationships/hyperlink" Target="https://medium.com/@devalshah1619/face-recognition-using-eigenfaces-technique-f221d505d4f7" TargetMode="External"/><Relationship Id="rId21" Type="http://schemas.openxmlformats.org/officeDocument/2006/relationships/hyperlink" Target="http://www.skipser.com/p/2/p/android-as-webcam.html" TargetMode="External"/><Relationship Id="rId13" Type="http://schemas.openxmlformats.org/officeDocument/2006/relationships/hyperlink" Target="https://towardsdatascience.com/faster-rcnn-object-detection-f865e5ed7fc4" TargetMode="External"/><Relationship Id="rId12" Type="http://schemas.openxmlformats.org/officeDocument/2006/relationships/hyperlink" Target="https://www.youtube.com/watch?v=ej9wFtHZu4c" TargetMode="External"/><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github.com/ageitgey/face_recognition/wiki/Face-Recognition-Accuracy-Problems" TargetMode="External"/><Relationship Id="rId4" Type="http://schemas.openxmlformats.org/officeDocument/2006/relationships/hyperlink" Target="https://github.com/ageitgey/face_recognition/wiki/Face-Recognition-Accuracy-Problems" TargetMode="External"/><Relationship Id="rId9" Type="http://schemas.openxmlformats.org/officeDocument/2006/relationships/hyperlink" Target="https://medium.com/@devalshah1619/face-recognition-using-eigenfaces-technique-f221d505d4f7" TargetMode="External"/><Relationship Id="rId15" Type="http://schemas.openxmlformats.org/officeDocument/2006/relationships/hyperlink" Target="https://www.linkedin.com/pulse/comparison-yolo-darknet-versus-darkflow-rasmus-kromann" TargetMode="External"/><Relationship Id="rId14" Type="http://schemas.openxmlformats.org/officeDocument/2006/relationships/hyperlink" Target="https://towardsdatascience.com/faster-rcnn-object-detection-f865e5ed7fc4" TargetMode="External"/><Relationship Id="rId17" Type="http://schemas.openxmlformats.org/officeDocument/2006/relationships/hyperlink" Target="https://docs.nvidia.com/cuda/cuda-installation-guide-linux/index.html" TargetMode="External"/><Relationship Id="rId16" Type="http://schemas.openxmlformats.org/officeDocument/2006/relationships/hyperlink" Target="https://www.linkedin.com/pulse/comparison-yolo-darknet-versus-darkflow-rasmus-kromann" TargetMode="External"/><Relationship Id="rId5" Type="http://schemas.openxmlformats.org/officeDocument/2006/relationships/hyperlink" Target="https://www.eeweb.com/profile/rajeevthaware/articles/real-time-face-detection-and-recognition-with-svm-and-hog-features" TargetMode="External"/><Relationship Id="rId19" Type="http://schemas.openxmlformats.org/officeDocument/2006/relationships/hyperlink" Target="http://www.skipser.com/p/2/p/android-as-webcam.html" TargetMode="External"/><Relationship Id="rId6" Type="http://schemas.openxmlformats.org/officeDocument/2006/relationships/hyperlink" Target="https://www.eeweb.com/profile/rajeevthaware/articles/real-time-face-detection-and-recognition-with-svm-and-hog-features" TargetMode="External"/><Relationship Id="rId18" Type="http://schemas.openxmlformats.org/officeDocument/2006/relationships/hyperlink" Target="https://docs.nvidia.com/cuda/cuda-installation-guide-linux/index.html" TargetMode="External"/><Relationship Id="rId7" Type="http://schemas.openxmlformats.org/officeDocument/2006/relationships/hyperlink" Target="https://azure.microsoft.com/en-in/services/cognitive-services/face/" TargetMode="External"/><Relationship Id="rId8" Type="http://schemas.openxmlformats.org/officeDocument/2006/relationships/hyperlink" Target="https://azure.microsoft.com/en-in/services/cognitive-services/fac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457200" lvl="0" marL="1828800" rtl="0" algn="l">
              <a:spcBef>
                <a:spcPts val="0"/>
              </a:spcBef>
              <a:spcAft>
                <a:spcPts val="0"/>
              </a:spcAft>
              <a:buNone/>
            </a:pPr>
            <a:r>
              <a:rPr lang="en">
                <a:solidFill>
                  <a:srgbClr val="FFFBF0"/>
                </a:solidFill>
                <a:latin typeface="Old Standard TT"/>
                <a:ea typeface="Old Standard TT"/>
                <a:cs typeface="Old Standard TT"/>
                <a:sym typeface="Old Standard TT"/>
              </a:rPr>
              <a:t>Facial and Object </a:t>
            </a:r>
            <a:endParaRPr>
              <a:solidFill>
                <a:srgbClr val="FFFBF0"/>
              </a:solidFill>
              <a:latin typeface="Old Standard TT"/>
              <a:ea typeface="Old Standard TT"/>
              <a:cs typeface="Old Standard TT"/>
              <a:sym typeface="Old Standard TT"/>
            </a:endParaRPr>
          </a:p>
          <a:p>
            <a:pPr indent="457200" lvl="0" marL="2286000" rtl="0" algn="l">
              <a:spcBef>
                <a:spcPts val="0"/>
              </a:spcBef>
              <a:spcAft>
                <a:spcPts val="0"/>
              </a:spcAft>
              <a:buNone/>
            </a:pPr>
            <a:r>
              <a:rPr lang="en">
                <a:solidFill>
                  <a:srgbClr val="FFFBF0"/>
                </a:solidFill>
                <a:latin typeface="Old Standard TT"/>
                <a:ea typeface="Old Standard TT"/>
                <a:cs typeface="Old Standard TT"/>
                <a:sym typeface="Old Standard TT"/>
              </a:rPr>
              <a:t>Recognition</a:t>
            </a:r>
            <a:endParaRPr sz="4200">
              <a:solidFill>
                <a:srgbClr val="FFD966"/>
              </a:solidFill>
              <a:latin typeface="Old Standard TT"/>
              <a:ea typeface="Old Standard TT"/>
              <a:cs typeface="Old Standard TT"/>
              <a:sym typeface="Old Standard TT"/>
            </a:endParaRPr>
          </a:p>
          <a:p>
            <a:pPr indent="0" lvl="0" marL="0" rtl="0" algn="l">
              <a:spcBef>
                <a:spcPts val="0"/>
              </a:spcBef>
              <a:spcAft>
                <a:spcPts val="0"/>
              </a:spcAft>
              <a:buNone/>
            </a:pPr>
            <a:r>
              <a:t/>
            </a:r>
            <a:endParaRPr/>
          </a:p>
        </p:txBody>
      </p:sp>
      <p:sp>
        <p:nvSpPr>
          <p:cNvPr id="68" name="Google Shape;68;p13"/>
          <p:cNvSpPr txBox="1"/>
          <p:nvPr>
            <p:ph idx="1" type="subTitle"/>
          </p:nvPr>
        </p:nvSpPr>
        <p:spPr>
          <a:xfrm>
            <a:off x="-150" y="2241850"/>
            <a:ext cx="9144000" cy="2901600"/>
          </a:xfrm>
          <a:prstGeom prst="rect">
            <a:avLst/>
          </a:prstGeom>
          <a:solidFill>
            <a:schemeClr val="lt1"/>
          </a:solidFill>
        </p:spPr>
        <p:txBody>
          <a:bodyPr anchorCtr="0" anchor="t" bIns="91425" lIns="91425" spcFirstLastPara="1" rIns="91425" wrap="square" tIns="91425">
            <a:noAutofit/>
          </a:bodyPr>
          <a:lstStyle/>
          <a:p>
            <a:pPr indent="457200" lvl="0" marL="1828800" rtl="0" algn="l">
              <a:spcBef>
                <a:spcPts val="0"/>
              </a:spcBef>
              <a:spcAft>
                <a:spcPts val="0"/>
              </a:spcAft>
              <a:buNone/>
            </a:pPr>
            <a:r>
              <a:rPr lang="en" sz="2400">
                <a:solidFill>
                  <a:srgbClr val="000000"/>
                </a:solidFill>
              </a:rPr>
              <a:t>Final Year Project 2018-2019</a:t>
            </a:r>
            <a:endParaRPr sz="2400">
              <a:solidFill>
                <a:srgbClr val="000000"/>
              </a:solidFill>
            </a:endParaRPr>
          </a:p>
          <a:p>
            <a:pPr indent="457200" lvl="0" marL="2286000" rtl="0" algn="l">
              <a:spcBef>
                <a:spcPts val="0"/>
              </a:spcBef>
              <a:spcAft>
                <a:spcPts val="0"/>
              </a:spcAft>
              <a:buNone/>
            </a:pPr>
            <a:r>
              <a:rPr lang="en" sz="2400">
                <a:solidFill>
                  <a:srgbClr val="000000"/>
                </a:solidFill>
              </a:rPr>
              <a:t>  Final  Assessment</a:t>
            </a:r>
            <a:endParaRPr sz="2400">
              <a:solidFill>
                <a:srgbClr val="000000"/>
              </a:solidFill>
            </a:endParaRPr>
          </a:p>
          <a:p>
            <a:pPr indent="0" lvl="0" marL="0" rtl="0" algn="l">
              <a:spcBef>
                <a:spcPts val="0"/>
              </a:spcBef>
              <a:spcAft>
                <a:spcPts val="0"/>
              </a:spcAft>
              <a:buNone/>
            </a:pPr>
            <a:r>
              <a:t/>
            </a:r>
            <a:endParaRPr sz="2400">
              <a:solidFill>
                <a:srgbClr val="000000"/>
              </a:solidFill>
            </a:endParaRPr>
          </a:p>
          <a:p>
            <a:pPr indent="0" lvl="0" marL="2743200" rtl="0" algn="l">
              <a:spcBef>
                <a:spcPts val="0"/>
              </a:spcBef>
              <a:spcAft>
                <a:spcPts val="0"/>
              </a:spcAft>
              <a:buNone/>
            </a:pPr>
            <a:r>
              <a:rPr lang="en">
                <a:solidFill>
                  <a:srgbClr val="000000"/>
                </a:solidFill>
              </a:rPr>
              <a:t>   Ankita Gonnade BT15CSE028</a:t>
            </a:r>
            <a:endParaRPr>
              <a:solidFill>
                <a:srgbClr val="000000"/>
              </a:solidFill>
            </a:endParaRPr>
          </a:p>
          <a:p>
            <a:pPr indent="0" lvl="0" marL="0" rtl="0" algn="l">
              <a:spcBef>
                <a:spcPts val="0"/>
              </a:spcBef>
              <a:spcAft>
                <a:spcPts val="0"/>
              </a:spcAft>
              <a:buNone/>
            </a:pPr>
            <a:r>
              <a:rPr lang="en">
                <a:solidFill>
                  <a:srgbClr val="000000"/>
                </a:solidFill>
              </a:rPr>
              <a:t> 						   Shruti Nashine   BT15CSE055</a:t>
            </a:r>
            <a:endParaRPr>
              <a:solidFill>
                <a:srgbClr val="000000"/>
              </a:solidFill>
            </a:endParaRPr>
          </a:p>
          <a:p>
            <a:pPr indent="0" lvl="0" marL="0" rtl="0" algn="l">
              <a:spcBef>
                <a:spcPts val="0"/>
              </a:spcBef>
              <a:spcAft>
                <a:spcPts val="0"/>
              </a:spcAft>
              <a:buNone/>
            </a:pPr>
            <a:r>
              <a:t/>
            </a:r>
            <a:endParaRPr sz="1400">
              <a:solidFill>
                <a:srgbClr val="000000"/>
              </a:solidFill>
            </a:endParaRPr>
          </a:p>
          <a:p>
            <a:pPr indent="0" lvl="0" marL="3200400" rtl="0" algn="l">
              <a:spcBef>
                <a:spcPts val="0"/>
              </a:spcBef>
              <a:spcAft>
                <a:spcPts val="0"/>
              </a:spcAft>
              <a:buNone/>
            </a:pPr>
            <a:r>
              <a:rPr lang="en" sz="1400">
                <a:solidFill>
                  <a:srgbClr val="000000"/>
                </a:solidFill>
              </a:rPr>
              <a:t>     Under the guidance of</a:t>
            </a:r>
            <a:endParaRPr sz="1400">
              <a:solidFill>
                <a:srgbClr val="000000"/>
              </a:solidFill>
            </a:endParaRPr>
          </a:p>
          <a:p>
            <a:pPr indent="0" lvl="0" marL="3200400" rtl="0" algn="l">
              <a:spcBef>
                <a:spcPts val="0"/>
              </a:spcBef>
              <a:spcAft>
                <a:spcPts val="0"/>
              </a:spcAft>
              <a:buNone/>
            </a:pPr>
            <a:r>
              <a:rPr lang="en">
                <a:solidFill>
                  <a:srgbClr val="000000"/>
                </a:solidFill>
              </a:rPr>
              <a:t>   Dr. Praveen Kumar</a:t>
            </a:r>
            <a:endParaRPr sz="2400">
              <a:solidFill>
                <a:srgbClr val="B7B7B7"/>
              </a:solidFill>
              <a:latin typeface="Old Standard TT"/>
              <a:ea typeface="Old Standard TT"/>
              <a:cs typeface="Old Standard TT"/>
              <a:sym typeface="Old Standard TT"/>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265500" y="1718250"/>
            <a:ext cx="4045200" cy="170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Contents</a:t>
            </a:r>
            <a:endParaRPr/>
          </a:p>
        </p:txBody>
      </p:sp>
      <p:sp>
        <p:nvSpPr>
          <p:cNvPr id="74" name="Google Shape;74;p14"/>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Problem Statement</a:t>
            </a:r>
            <a:endParaRPr/>
          </a:p>
          <a:p>
            <a:pPr indent="-342900" lvl="0" marL="457200" rtl="0" algn="l">
              <a:spcBef>
                <a:spcPts val="1600"/>
              </a:spcBef>
              <a:spcAft>
                <a:spcPts val="0"/>
              </a:spcAft>
              <a:buSzPts val="1800"/>
              <a:buChar char="●"/>
            </a:pPr>
            <a:r>
              <a:rPr lang="en"/>
              <a:t>Facial recognition</a:t>
            </a:r>
            <a:endParaRPr/>
          </a:p>
          <a:p>
            <a:pPr indent="-342900" lvl="0" marL="457200" rtl="0" algn="l">
              <a:spcBef>
                <a:spcPts val="1600"/>
              </a:spcBef>
              <a:spcAft>
                <a:spcPts val="0"/>
              </a:spcAft>
              <a:buSzPts val="1800"/>
              <a:buChar char="●"/>
            </a:pPr>
            <a:r>
              <a:rPr lang="en"/>
              <a:t>Object recognition</a:t>
            </a:r>
            <a:endParaRPr/>
          </a:p>
          <a:p>
            <a:pPr indent="-342900" lvl="0" marL="457200" rtl="0" algn="l">
              <a:spcBef>
                <a:spcPts val="1600"/>
              </a:spcBef>
              <a:spcAft>
                <a:spcPts val="0"/>
              </a:spcAft>
              <a:buSzPts val="1800"/>
              <a:buChar char="●"/>
            </a:pPr>
            <a:r>
              <a:rPr lang="en"/>
              <a:t>Results</a:t>
            </a:r>
            <a:endParaRPr/>
          </a:p>
          <a:p>
            <a:pPr indent="-342900" lvl="0" marL="457200" rtl="0" algn="l">
              <a:spcBef>
                <a:spcPts val="1600"/>
              </a:spcBef>
              <a:spcAft>
                <a:spcPts val="1600"/>
              </a:spcAft>
              <a:buSzPts val="1800"/>
              <a:buChar char="●"/>
            </a:pPr>
            <a:r>
              <a:rPr lang="en"/>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Problem Statement</a:t>
            </a:r>
            <a:endParaRPr/>
          </a:p>
        </p:txBody>
      </p:sp>
      <p:sp>
        <p:nvSpPr>
          <p:cNvPr id="80" name="Google Shape;80;p15"/>
          <p:cNvSpPr txBox="1"/>
          <p:nvPr>
            <p:ph idx="1" type="body"/>
          </p:nvPr>
        </p:nvSpPr>
        <p:spPr>
          <a:xfrm>
            <a:off x="460950" y="1348675"/>
            <a:ext cx="8222100" cy="359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000000"/>
              </a:solidFill>
              <a:latin typeface="Times New Roman"/>
              <a:ea typeface="Times New Roman"/>
              <a:cs typeface="Times New Roman"/>
              <a:sym typeface="Times New Roman"/>
            </a:endParaRPr>
          </a:p>
          <a:p>
            <a:pPr indent="-342900" lvl="0" marL="457200" rtl="0" algn="l">
              <a:lnSpc>
                <a:spcPct val="150000"/>
              </a:lnSpc>
              <a:spcBef>
                <a:spcPts val="1600"/>
              </a:spcBef>
              <a:spcAft>
                <a:spcPts val="0"/>
              </a:spcAft>
              <a:buClr>
                <a:srgbClr val="000000"/>
              </a:buClr>
              <a:buSzPts val="1800"/>
              <a:buChar char="●"/>
            </a:pPr>
            <a:r>
              <a:rPr lang="en">
                <a:solidFill>
                  <a:srgbClr val="000000"/>
                </a:solidFill>
                <a:latin typeface="Times New Roman"/>
                <a:ea typeface="Times New Roman"/>
                <a:cs typeface="Times New Roman"/>
                <a:sym typeface="Times New Roman"/>
              </a:rPr>
              <a:t>Visually challenged people have strong sense of touch, hearing, smell and taste.</a:t>
            </a:r>
            <a:endParaRPr>
              <a:solidFill>
                <a:srgbClr val="000000"/>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The inability to recognize known individuals and surrounding objects in the absence of audio or haptic cues severely limits the visually impaired in their daily routines and puts them at risk of privacy and physical security. </a:t>
            </a:r>
            <a:endParaRPr>
              <a:solidFill>
                <a:srgbClr val="000000"/>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In this project, the blind will be himself able to identify people and object due to face recognition and object detection.</a:t>
            </a:r>
            <a:endParaRPr>
              <a:solidFill>
                <a:srgbClr val="000000"/>
              </a:solidFill>
              <a:latin typeface="Times New Roman"/>
              <a:ea typeface="Times New Roman"/>
              <a:cs typeface="Times New Roman"/>
              <a:sym typeface="Times New Roman"/>
            </a:endParaRPr>
          </a:p>
          <a:p>
            <a:pPr indent="0" lvl="0" marL="457200" rtl="0" algn="l">
              <a:lnSpc>
                <a:spcPct val="150000"/>
              </a:lnSpc>
              <a:spcBef>
                <a:spcPts val="1600"/>
              </a:spcBef>
              <a:spcAft>
                <a:spcPts val="0"/>
              </a:spcAft>
              <a:buNone/>
            </a:pPr>
            <a:r>
              <a:t/>
            </a:r>
            <a:endParaRPr>
              <a:solidFill>
                <a:srgbClr val="000000"/>
              </a:solidFill>
              <a:latin typeface="Times New Roman"/>
              <a:ea typeface="Times New Roman"/>
              <a:cs typeface="Times New Roman"/>
              <a:sym typeface="Times New Roman"/>
            </a:endParaRPr>
          </a:p>
          <a:p>
            <a:pPr indent="0" lvl="0" marL="457200" rtl="0" algn="l">
              <a:spcBef>
                <a:spcPts val="1600"/>
              </a:spcBef>
              <a:spcAft>
                <a:spcPts val="1600"/>
              </a:spcAft>
              <a:buNone/>
            </a:pPr>
            <a:r>
              <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265500" y="1718250"/>
            <a:ext cx="4045200" cy="170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Face recognition</a:t>
            </a:r>
            <a:endParaRPr/>
          </a:p>
        </p:txBody>
      </p:sp>
      <p:sp>
        <p:nvSpPr>
          <p:cNvPr id="86" name="Google Shape;86;p16"/>
          <p:cNvSpPr txBox="1"/>
          <p:nvPr>
            <p:ph idx="2" type="body"/>
          </p:nvPr>
        </p:nvSpPr>
        <p:spPr>
          <a:xfrm>
            <a:off x="4939500" y="2195650"/>
            <a:ext cx="3837000" cy="26640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a:p>
          <a:p>
            <a:pPr indent="0" lvl="0" marL="457200" rtl="0" algn="l">
              <a:spcBef>
                <a:spcPts val="1600"/>
              </a:spcBef>
              <a:spcAft>
                <a:spcPts val="0"/>
              </a:spcAft>
              <a:buNone/>
            </a:pPr>
            <a:r>
              <a:t/>
            </a:r>
            <a:endParaRPr/>
          </a:p>
          <a:p>
            <a:pPr indent="-342900" lvl="0" marL="457200" rtl="0" algn="l">
              <a:spcBef>
                <a:spcPts val="1600"/>
              </a:spcBef>
              <a:spcAft>
                <a:spcPts val="0"/>
              </a:spcAft>
              <a:buSzPts val="1800"/>
              <a:buChar char="●"/>
            </a:pPr>
            <a:r>
              <a:rPr lang="en"/>
              <a:t>Dataset Creation</a:t>
            </a:r>
            <a:endParaRPr/>
          </a:p>
          <a:p>
            <a:pPr indent="-342900" lvl="0" marL="457200" rtl="0" algn="l">
              <a:spcBef>
                <a:spcPts val="1600"/>
              </a:spcBef>
              <a:spcAft>
                <a:spcPts val="0"/>
              </a:spcAft>
              <a:buSzPts val="1800"/>
              <a:buChar char="●"/>
            </a:pPr>
            <a:r>
              <a:rPr lang="en"/>
              <a:t>Encodings</a:t>
            </a:r>
            <a:endParaRPr/>
          </a:p>
          <a:p>
            <a:pPr indent="-342900" lvl="0" marL="457200" rtl="0" algn="l">
              <a:spcBef>
                <a:spcPts val="1600"/>
              </a:spcBef>
              <a:spcAft>
                <a:spcPts val="0"/>
              </a:spcAft>
              <a:buSzPts val="1800"/>
              <a:buChar char="●"/>
            </a:pPr>
            <a:r>
              <a:rPr lang="en"/>
              <a:t>Algorithm used</a:t>
            </a:r>
            <a:endParaRPr/>
          </a:p>
          <a:p>
            <a:pPr indent="-342900" lvl="0" marL="457200" rtl="0" algn="l">
              <a:spcBef>
                <a:spcPts val="1600"/>
              </a:spcBef>
              <a:spcAft>
                <a:spcPts val="0"/>
              </a:spcAft>
              <a:buSzPts val="1800"/>
              <a:buChar char="●"/>
            </a:pPr>
            <a:r>
              <a:rPr lang="en"/>
              <a:t>Challenges faced</a:t>
            </a:r>
            <a:endParaRPr/>
          </a:p>
          <a:p>
            <a:pPr indent="0" lvl="0" marL="457200" rtl="0" algn="l">
              <a:spcBef>
                <a:spcPts val="1600"/>
              </a:spcBef>
              <a:spcAft>
                <a:spcPts val="1600"/>
              </a:spcAft>
              <a:buNone/>
            </a:pPr>
            <a:r>
              <a:t/>
            </a:r>
            <a:endParaRPr/>
          </a:p>
        </p:txBody>
      </p:sp>
      <p:sp>
        <p:nvSpPr>
          <p:cNvPr id="87" name="Google Shape;87;p16"/>
          <p:cNvSpPr txBox="1"/>
          <p:nvPr/>
        </p:nvSpPr>
        <p:spPr>
          <a:xfrm>
            <a:off x="4773900" y="178300"/>
            <a:ext cx="4204200" cy="201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400">
                <a:solidFill>
                  <a:schemeClr val="accent4"/>
                </a:solidFill>
                <a:latin typeface="Times New Roman"/>
                <a:ea typeface="Times New Roman"/>
                <a:cs typeface="Times New Roman"/>
                <a:sym typeface="Times New Roman"/>
              </a:rPr>
              <a:t>We implemented our facial recognition system using Python,OpenCV and deep learning for images and real time videos streaming</a:t>
            </a:r>
            <a:endParaRPr sz="2400">
              <a:solidFill>
                <a:schemeClr val="accent4"/>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460950" y="-191300"/>
            <a:ext cx="8222100" cy="124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Dataset Creation</a:t>
            </a:r>
            <a:endParaRPr/>
          </a:p>
        </p:txBody>
      </p:sp>
      <p:sp>
        <p:nvSpPr>
          <p:cNvPr id="93" name="Google Shape;93;p17"/>
          <p:cNvSpPr txBox="1"/>
          <p:nvPr/>
        </p:nvSpPr>
        <p:spPr>
          <a:xfrm>
            <a:off x="0" y="902075"/>
            <a:ext cx="9144000" cy="4241400"/>
          </a:xfrm>
          <a:prstGeom prst="rect">
            <a:avLst/>
          </a:prstGeom>
          <a:solidFill>
            <a:schemeClr val="lt1"/>
          </a:solid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Before we train the model, we need to gather and create dataset of many and different faces. We used two ways for creating the dataset namely:</a:t>
            </a:r>
            <a:endParaRPr sz="1800">
              <a:latin typeface="Times New Roman"/>
              <a:ea typeface="Times New Roman"/>
              <a:cs typeface="Times New Roman"/>
              <a:sym typeface="Times New Roman"/>
            </a:endParaRPr>
          </a:p>
          <a:p>
            <a:pPr indent="-342900" lvl="2" marL="1371600" rtl="0" algn="l">
              <a:lnSpc>
                <a:spcPct val="150000"/>
              </a:lnSpc>
              <a:spcBef>
                <a:spcPts val="0"/>
              </a:spcBef>
              <a:spcAft>
                <a:spcPts val="0"/>
              </a:spcAft>
              <a:buSzPts val="1800"/>
              <a:buFont typeface="Times New Roman"/>
              <a:buAutoNum type="arabicPeriod"/>
            </a:pPr>
            <a:r>
              <a:rPr lang="en" sz="1800">
                <a:latin typeface="Times New Roman"/>
                <a:ea typeface="Times New Roman"/>
                <a:cs typeface="Times New Roman"/>
                <a:sym typeface="Times New Roman"/>
              </a:rPr>
              <a:t>Custom face recognition dataset</a:t>
            </a:r>
            <a:endParaRPr sz="1800">
              <a:latin typeface="Times New Roman"/>
              <a:ea typeface="Times New Roman"/>
              <a:cs typeface="Times New Roman"/>
              <a:sym typeface="Times New Roman"/>
            </a:endParaRPr>
          </a:p>
          <a:p>
            <a:pPr indent="-342900" lvl="5" marL="2743200" rtl="0" algn="l">
              <a:lnSpc>
                <a:spcPct val="150000"/>
              </a:lnSpc>
              <a:spcBef>
                <a:spcPts val="0"/>
              </a:spcBef>
              <a:spcAft>
                <a:spcPts val="0"/>
              </a:spcAft>
              <a:buSzPts val="1800"/>
              <a:buAutoNum type="alphaLcParenBoth"/>
            </a:pPr>
            <a:r>
              <a:rPr lang="en" sz="1800">
                <a:latin typeface="Times New Roman"/>
                <a:ea typeface="Times New Roman"/>
                <a:cs typeface="Times New Roman"/>
                <a:sym typeface="Times New Roman"/>
              </a:rPr>
              <a:t>We need to gather faces of people we want to recognize and also those faces needs to be quantified in some manner. This is also called facial recognition enrollment.</a:t>
            </a:r>
            <a:endParaRPr sz="1800">
              <a:latin typeface="Times New Roman"/>
              <a:ea typeface="Times New Roman"/>
              <a:cs typeface="Times New Roman"/>
              <a:sym typeface="Times New Roman"/>
            </a:endParaRPr>
          </a:p>
          <a:p>
            <a:pPr indent="-342900" lvl="5" marL="2743200" rtl="0" algn="l">
              <a:lnSpc>
                <a:spcPct val="150000"/>
              </a:lnSpc>
              <a:spcBef>
                <a:spcPts val="0"/>
              </a:spcBef>
              <a:spcAft>
                <a:spcPts val="0"/>
              </a:spcAft>
              <a:buSzPts val="1800"/>
              <a:buAutoNum type="alphaLcParenBoth"/>
            </a:pPr>
            <a:r>
              <a:rPr lang="en" sz="1800">
                <a:latin typeface="Times New Roman"/>
                <a:ea typeface="Times New Roman"/>
                <a:cs typeface="Times New Roman"/>
                <a:sym typeface="Times New Roman"/>
              </a:rPr>
              <a:t>The other method is that the physical access to a person is necessary. To create more diverse dataset we can gather images of the same person under different light conditions, moods, times of day and emotional states.</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8"/>
          <p:cNvSpPr txBox="1"/>
          <p:nvPr/>
        </p:nvSpPr>
        <p:spPr>
          <a:xfrm>
            <a:off x="198450" y="200200"/>
            <a:ext cx="8747100" cy="4219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Font typeface="Times New Roman"/>
              <a:buAutoNum type="arabicPeriod" startAt="2"/>
            </a:pPr>
            <a:r>
              <a:rPr lang="en" sz="1800">
                <a:latin typeface="Times New Roman"/>
                <a:ea typeface="Times New Roman"/>
                <a:cs typeface="Times New Roman"/>
                <a:sym typeface="Times New Roman"/>
              </a:rPr>
              <a:t>Online face recognition dataset</a:t>
            </a:r>
            <a:endParaRPr sz="1800">
              <a:latin typeface="Times New Roman"/>
              <a:ea typeface="Times New Roman"/>
              <a:cs typeface="Times New Roman"/>
              <a:sym typeface="Times New Roman"/>
            </a:endParaRPr>
          </a:p>
          <a:p>
            <a:pPr indent="0" lvl="0" marL="914400" rtl="0" algn="l">
              <a:lnSpc>
                <a:spcPct val="150000"/>
              </a:lnSpc>
              <a:spcBef>
                <a:spcPts val="0"/>
              </a:spcBef>
              <a:spcAft>
                <a:spcPts val="0"/>
              </a:spcAft>
              <a:buNone/>
            </a:pPr>
            <a:r>
              <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This involves building a deep learning image dataset.</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rgbClr val="222222"/>
              </a:buClr>
              <a:buSzPts val="1800"/>
              <a:buFont typeface="Times New Roman"/>
              <a:buChar char="●"/>
            </a:pPr>
            <a:r>
              <a:rPr lang="en" sz="1800">
                <a:solidFill>
                  <a:srgbClr val="222222"/>
                </a:solidFill>
                <a:latin typeface="Times New Roman"/>
                <a:ea typeface="Times New Roman"/>
                <a:cs typeface="Times New Roman"/>
                <a:sym typeface="Times New Roman"/>
              </a:rPr>
              <a:t>In order to build the image dataset, we utilized Microsoft’s Bing Image Search API, a part of Microsoft’s Cognitive Services. From logging in, we used its key to get the api into use. The program enable us to download images via command line as it is easy and there is no need to open browser or use browser extensions to download the images from the search. </a:t>
            </a:r>
            <a:endParaRPr sz="1800">
              <a:solidFill>
                <a:srgbClr val="222222"/>
              </a:solidFill>
              <a:latin typeface="Times New Roman"/>
              <a:ea typeface="Times New Roman"/>
              <a:cs typeface="Times New Roman"/>
              <a:sym typeface="Times New Roman"/>
            </a:endParaRPr>
          </a:p>
          <a:p>
            <a:pPr indent="-342900" lvl="0" marL="914400" rtl="0" algn="l">
              <a:lnSpc>
                <a:spcPct val="150000"/>
              </a:lnSpc>
              <a:spcBef>
                <a:spcPts val="0"/>
              </a:spcBef>
              <a:spcAft>
                <a:spcPts val="0"/>
              </a:spcAft>
              <a:buClr>
                <a:srgbClr val="222222"/>
              </a:buClr>
              <a:buSzPts val="1800"/>
              <a:buFont typeface="Times New Roman"/>
              <a:buChar char="●"/>
            </a:pPr>
            <a:r>
              <a:rPr lang="en" sz="1800">
                <a:solidFill>
                  <a:srgbClr val="222222"/>
                </a:solidFill>
                <a:latin typeface="Times New Roman"/>
                <a:ea typeface="Times New Roman"/>
                <a:cs typeface="Times New Roman"/>
                <a:sym typeface="Times New Roman"/>
              </a:rPr>
              <a:t>It programmatically downloads large number of images via a simple query.</a:t>
            </a:r>
            <a:endParaRPr sz="1800">
              <a:solidFill>
                <a:srgbClr val="222222"/>
              </a:solidFill>
              <a:latin typeface="Times New Roman"/>
              <a:ea typeface="Times New Roman"/>
              <a:cs typeface="Times New Roman"/>
              <a:sym typeface="Times New Roman"/>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Encodings</a:t>
            </a:r>
            <a:endParaRPr sz="2400"/>
          </a:p>
        </p:txBody>
      </p:sp>
      <p:sp>
        <p:nvSpPr>
          <p:cNvPr id="105" name="Google Shape;105;p19"/>
          <p:cNvSpPr txBox="1"/>
          <p:nvPr/>
        </p:nvSpPr>
        <p:spPr>
          <a:xfrm>
            <a:off x="184800" y="619050"/>
            <a:ext cx="8739900" cy="4524300"/>
          </a:xfrm>
          <a:prstGeom prst="rect">
            <a:avLst/>
          </a:prstGeom>
          <a:noFill/>
          <a:ln>
            <a:noFill/>
          </a:ln>
        </p:spPr>
        <p:txBody>
          <a:bodyPr anchorCtr="0" anchor="t" bIns="91425" lIns="91425" spcFirstLastPara="1" rIns="91425" wrap="square" tIns="91425">
            <a:noAutofit/>
          </a:bodyPr>
          <a:lstStyle/>
          <a:p>
            <a:pPr indent="-342900" lvl="0" marL="457200" rtl="0" algn="l">
              <a:lnSpc>
                <a:spcPct val="12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Every face has some facial features like the distinguishable landmarks, the different valleys and peaks. These features of faces are also called nodal points. Each human face consists of approximately 80 nodal points. Some of them are:</a:t>
            </a:r>
            <a:endParaRPr sz="1800">
              <a:latin typeface="Times New Roman"/>
              <a:ea typeface="Times New Roman"/>
              <a:cs typeface="Times New Roman"/>
              <a:sym typeface="Times New Roman"/>
            </a:endParaRPr>
          </a:p>
          <a:p>
            <a:pPr indent="0" lvl="0" marL="457200" rtl="0" algn="l">
              <a:lnSpc>
                <a:spcPct val="125000"/>
              </a:lnSpc>
              <a:spcBef>
                <a:spcPts val="0"/>
              </a:spcBef>
              <a:spcAft>
                <a:spcPts val="0"/>
              </a:spcAft>
              <a:buNone/>
            </a:pPr>
            <a:r>
              <a:rPr lang="en" sz="1800">
                <a:latin typeface="Times New Roman"/>
                <a:ea typeface="Times New Roman"/>
                <a:cs typeface="Times New Roman"/>
                <a:sym typeface="Times New Roman"/>
              </a:rPr>
              <a:t>●   	Width of the nose</a:t>
            </a:r>
            <a:endParaRPr sz="1800">
              <a:latin typeface="Times New Roman"/>
              <a:ea typeface="Times New Roman"/>
              <a:cs typeface="Times New Roman"/>
              <a:sym typeface="Times New Roman"/>
            </a:endParaRPr>
          </a:p>
          <a:p>
            <a:pPr indent="0" lvl="0" marL="457200" rtl="0" algn="l">
              <a:lnSpc>
                <a:spcPct val="125000"/>
              </a:lnSpc>
              <a:spcBef>
                <a:spcPts val="0"/>
              </a:spcBef>
              <a:spcAft>
                <a:spcPts val="0"/>
              </a:spcAft>
              <a:buNone/>
            </a:pPr>
            <a:r>
              <a:rPr lang="en" sz="1800">
                <a:latin typeface="Times New Roman"/>
                <a:ea typeface="Times New Roman"/>
                <a:cs typeface="Times New Roman"/>
                <a:sym typeface="Times New Roman"/>
              </a:rPr>
              <a:t>●   	Shape of cheekbones</a:t>
            </a:r>
            <a:endParaRPr sz="1800">
              <a:latin typeface="Times New Roman"/>
              <a:ea typeface="Times New Roman"/>
              <a:cs typeface="Times New Roman"/>
              <a:sym typeface="Times New Roman"/>
            </a:endParaRPr>
          </a:p>
          <a:p>
            <a:pPr indent="0" lvl="0" marL="457200" rtl="0" algn="l">
              <a:lnSpc>
                <a:spcPct val="125000"/>
              </a:lnSpc>
              <a:spcBef>
                <a:spcPts val="0"/>
              </a:spcBef>
              <a:spcAft>
                <a:spcPts val="0"/>
              </a:spcAft>
              <a:buNone/>
            </a:pPr>
            <a:r>
              <a:rPr lang="en" sz="1800">
                <a:latin typeface="Times New Roman"/>
                <a:ea typeface="Times New Roman"/>
                <a:cs typeface="Times New Roman"/>
                <a:sym typeface="Times New Roman"/>
              </a:rPr>
              <a:t>●   	Distance between the eyes</a:t>
            </a:r>
            <a:endParaRPr sz="1800">
              <a:latin typeface="Times New Roman"/>
              <a:ea typeface="Times New Roman"/>
              <a:cs typeface="Times New Roman"/>
              <a:sym typeface="Times New Roman"/>
            </a:endParaRPr>
          </a:p>
          <a:p>
            <a:pPr indent="0" lvl="0" marL="457200" rtl="0" algn="l">
              <a:lnSpc>
                <a:spcPct val="125000"/>
              </a:lnSpc>
              <a:spcBef>
                <a:spcPts val="0"/>
              </a:spcBef>
              <a:spcAft>
                <a:spcPts val="0"/>
              </a:spcAft>
              <a:buNone/>
            </a:pPr>
            <a:r>
              <a:rPr lang="en" sz="1800">
                <a:latin typeface="Times New Roman"/>
                <a:ea typeface="Times New Roman"/>
                <a:cs typeface="Times New Roman"/>
                <a:sym typeface="Times New Roman"/>
              </a:rPr>
              <a:t>●   	Length of jaw line</a:t>
            </a:r>
            <a:endParaRPr sz="1800">
              <a:latin typeface="Times New Roman"/>
              <a:ea typeface="Times New Roman"/>
              <a:cs typeface="Times New Roman"/>
              <a:sym typeface="Times New Roman"/>
            </a:endParaRPr>
          </a:p>
          <a:p>
            <a:pPr indent="-342900" lvl="0" marL="457200" marR="279400" rtl="0" algn="l">
              <a:lnSpc>
                <a:spcPct val="12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These point features of faces are measured by creating a numerical code known as faceprint which represents face in the database in the form of 128-d embeddings. So face recognition is a problem of extracting features by training a deep neural network where distance between the feature vector of same face will be minimized and for different face it will be maximized. Here the same face have similar features and others faces will have different features.</a:t>
            </a:r>
            <a:endParaRPr sz="18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p:nvPr/>
        </p:nvSpPr>
        <p:spPr>
          <a:xfrm>
            <a:off x="77010" y="2199014"/>
            <a:ext cx="1852200" cy="745500"/>
          </a:xfrm>
          <a:prstGeom prst="homePlate">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1" name="Google Shape;111;p20"/>
          <p:cNvSpPr txBox="1"/>
          <p:nvPr>
            <p:ph idx="4294967295" type="body"/>
          </p:nvPr>
        </p:nvSpPr>
        <p:spPr>
          <a:xfrm>
            <a:off x="77000" y="2336564"/>
            <a:ext cx="1440000" cy="470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Face Detection</a:t>
            </a:r>
            <a:endParaRPr>
              <a:solidFill>
                <a:schemeClr val="lt1"/>
              </a:solidFill>
            </a:endParaRPr>
          </a:p>
        </p:txBody>
      </p:sp>
      <p:grpSp>
        <p:nvGrpSpPr>
          <p:cNvPr id="112" name="Google Shape;112;p20"/>
          <p:cNvGrpSpPr/>
          <p:nvPr/>
        </p:nvGrpSpPr>
        <p:grpSpPr>
          <a:xfrm>
            <a:off x="642765" y="1610224"/>
            <a:ext cx="196772" cy="593656"/>
            <a:chOff x="777447" y="1610215"/>
            <a:chExt cx="198900" cy="593656"/>
          </a:xfrm>
        </p:grpSpPr>
        <p:cxnSp>
          <p:nvCxnSpPr>
            <p:cNvPr id="113" name="Google Shape;113;p20"/>
            <p:cNvCxnSpPr/>
            <p:nvPr/>
          </p:nvCxnSpPr>
          <p:spPr>
            <a:xfrm>
              <a:off x="876909" y="1649171"/>
              <a:ext cx="0" cy="554700"/>
            </a:xfrm>
            <a:prstGeom prst="straightConnector1">
              <a:avLst/>
            </a:prstGeom>
            <a:noFill/>
            <a:ln cap="flat" cmpd="sng" w="9525">
              <a:solidFill>
                <a:schemeClr val="dk2"/>
              </a:solidFill>
              <a:prstDash val="solid"/>
              <a:round/>
              <a:headEnd len="sm" w="sm" type="none"/>
              <a:tailEnd len="sm" w="sm" type="none"/>
            </a:ln>
          </p:spPr>
        </p:cxnSp>
        <p:sp>
          <p:nvSpPr>
            <p:cNvPr id="114" name="Google Shape;114;p20"/>
            <p:cNvSpPr/>
            <p:nvPr/>
          </p:nvSpPr>
          <p:spPr>
            <a:xfrm>
              <a:off x="777447" y="1610215"/>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20"/>
          <p:cNvSpPr txBox="1"/>
          <p:nvPr>
            <p:ph idx="4294967295" type="body"/>
          </p:nvPr>
        </p:nvSpPr>
        <p:spPr>
          <a:xfrm>
            <a:off x="326345" y="858450"/>
            <a:ext cx="23169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Times New Roman"/>
                <a:ea typeface="Times New Roman"/>
                <a:cs typeface="Times New Roman"/>
                <a:sym typeface="Times New Roman"/>
              </a:rPr>
              <a:t>Localization of a face in live video stream.</a:t>
            </a:r>
            <a:endParaRPr/>
          </a:p>
        </p:txBody>
      </p:sp>
      <p:sp>
        <p:nvSpPr>
          <p:cNvPr id="116" name="Google Shape;116;p20"/>
          <p:cNvSpPr/>
          <p:nvPr/>
        </p:nvSpPr>
        <p:spPr>
          <a:xfrm>
            <a:off x="1171873" y="2199014"/>
            <a:ext cx="23949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7" name="Google Shape;117;p20"/>
          <p:cNvSpPr txBox="1"/>
          <p:nvPr>
            <p:ph idx="4294967295" type="body"/>
          </p:nvPr>
        </p:nvSpPr>
        <p:spPr>
          <a:xfrm>
            <a:off x="1517100" y="2203900"/>
            <a:ext cx="1852200" cy="7263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lt1"/>
                </a:solidFill>
              </a:rPr>
              <a:t>Face Preprocessing</a:t>
            </a:r>
            <a:endParaRPr>
              <a:solidFill>
                <a:schemeClr val="lt1"/>
              </a:solidFill>
            </a:endParaRPr>
          </a:p>
        </p:txBody>
      </p:sp>
      <p:grpSp>
        <p:nvGrpSpPr>
          <p:cNvPr id="118" name="Google Shape;118;p20"/>
          <p:cNvGrpSpPr/>
          <p:nvPr/>
        </p:nvGrpSpPr>
        <p:grpSpPr>
          <a:xfrm>
            <a:off x="1981741" y="2938967"/>
            <a:ext cx="196772" cy="593656"/>
            <a:chOff x="2223534" y="2938958"/>
            <a:chExt cx="198900" cy="593656"/>
          </a:xfrm>
        </p:grpSpPr>
        <p:cxnSp>
          <p:nvCxnSpPr>
            <p:cNvPr id="119" name="Google Shape;119;p20"/>
            <p:cNvCxnSpPr/>
            <p:nvPr/>
          </p:nvCxnSpPr>
          <p:spPr>
            <a:xfrm rot="10800000">
              <a:off x="2322997" y="2938958"/>
              <a:ext cx="0" cy="554700"/>
            </a:xfrm>
            <a:prstGeom prst="straightConnector1">
              <a:avLst/>
            </a:prstGeom>
            <a:noFill/>
            <a:ln cap="flat" cmpd="sng" w="9525">
              <a:solidFill>
                <a:schemeClr val="dk2"/>
              </a:solidFill>
              <a:prstDash val="solid"/>
              <a:round/>
              <a:headEnd len="sm" w="sm" type="none"/>
              <a:tailEnd len="sm" w="sm" type="none"/>
            </a:ln>
          </p:spPr>
        </p:cxnSp>
        <p:sp>
          <p:nvSpPr>
            <p:cNvPr id="120" name="Google Shape;120;p20"/>
            <p:cNvSpPr/>
            <p:nvPr/>
          </p:nvSpPr>
          <p:spPr>
            <a:xfrm flipH="1" rot="10800000">
              <a:off x="2223534" y="3333714"/>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 name="Google Shape;121;p20"/>
          <p:cNvSpPr txBox="1"/>
          <p:nvPr>
            <p:ph idx="4294967295" type="body"/>
          </p:nvPr>
        </p:nvSpPr>
        <p:spPr>
          <a:xfrm>
            <a:off x="1244325" y="3541400"/>
            <a:ext cx="2242800" cy="1122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Times New Roman"/>
                <a:ea typeface="Times New Roman"/>
                <a:cs typeface="Times New Roman"/>
                <a:sym typeface="Times New Roman"/>
              </a:rPr>
              <a:t>Normalize the coarse face detection</a:t>
            </a:r>
            <a:endParaRPr>
              <a:latin typeface="Times New Roman"/>
              <a:ea typeface="Times New Roman"/>
              <a:cs typeface="Times New Roman"/>
              <a:sym typeface="Times New Roman"/>
            </a:endParaRPr>
          </a:p>
        </p:txBody>
      </p:sp>
      <p:sp>
        <p:nvSpPr>
          <p:cNvPr id="122" name="Google Shape;122;p20"/>
          <p:cNvSpPr/>
          <p:nvPr/>
        </p:nvSpPr>
        <p:spPr>
          <a:xfrm>
            <a:off x="3174727" y="2199014"/>
            <a:ext cx="20292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3" name="Google Shape;123;p20"/>
          <p:cNvSpPr txBox="1"/>
          <p:nvPr>
            <p:ph idx="4294967295" type="body"/>
          </p:nvPr>
        </p:nvSpPr>
        <p:spPr>
          <a:xfrm>
            <a:off x="3467360" y="2336564"/>
            <a:ext cx="13017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lt1"/>
                </a:solidFill>
              </a:rPr>
              <a:t>Feature Extraction</a:t>
            </a:r>
            <a:endParaRPr>
              <a:solidFill>
                <a:schemeClr val="lt1"/>
              </a:solidFill>
            </a:endParaRPr>
          </a:p>
        </p:txBody>
      </p:sp>
      <p:grpSp>
        <p:nvGrpSpPr>
          <p:cNvPr id="124" name="Google Shape;124;p20"/>
          <p:cNvGrpSpPr/>
          <p:nvPr/>
        </p:nvGrpSpPr>
        <p:grpSpPr>
          <a:xfrm>
            <a:off x="3755017" y="1610224"/>
            <a:ext cx="196772" cy="593656"/>
            <a:chOff x="3918084" y="1610215"/>
            <a:chExt cx="198900" cy="593656"/>
          </a:xfrm>
        </p:grpSpPr>
        <p:cxnSp>
          <p:nvCxnSpPr>
            <p:cNvPr id="125" name="Google Shape;125;p20"/>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26" name="Google Shape;126;p20"/>
            <p:cNvSpPr/>
            <p:nvPr/>
          </p:nvSpPr>
          <p:spPr>
            <a:xfrm>
              <a:off x="3918084" y="1610215"/>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 name="Google Shape;127;p20"/>
          <p:cNvSpPr txBox="1"/>
          <p:nvPr>
            <p:ph idx="4294967295" type="body"/>
          </p:nvPr>
        </p:nvSpPr>
        <p:spPr>
          <a:xfrm>
            <a:off x="3304100" y="867375"/>
            <a:ext cx="2242800" cy="72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Times New Roman"/>
                <a:ea typeface="Times New Roman"/>
                <a:cs typeface="Times New Roman"/>
                <a:sym typeface="Times New Roman"/>
              </a:rPr>
              <a:t>Computes the 128d embeddings for faces</a:t>
            </a:r>
            <a:endParaRPr/>
          </a:p>
        </p:txBody>
      </p:sp>
      <p:sp>
        <p:nvSpPr>
          <p:cNvPr id="128" name="Google Shape;128;p20"/>
          <p:cNvSpPr/>
          <p:nvPr/>
        </p:nvSpPr>
        <p:spPr>
          <a:xfrm>
            <a:off x="4812034" y="2199014"/>
            <a:ext cx="20292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9" name="Google Shape;129;p20"/>
          <p:cNvSpPr txBox="1"/>
          <p:nvPr>
            <p:ph idx="4294967295" type="body"/>
          </p:nvPr>
        </p:nvSpPr>
        <p:spPr>
          <a:xfrm>
            <a:off x="5098756" y="2336564"/>
            <a:ext cx="10686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lt1"/>
                </a:solidFill>
              </a:rPr>
              <a:t>Training </a:t>
            </a:r>
            <a:endParaRPr>
              <a:solidFill>
                <a:schemeClr val="lt1"/>
              </a:solidFill>
            </a:endParaRPr>
          </a:p>
        </p:txBody>
      </p:sp>
      <p:grpSp>
        <p:nvGrpSpPr>
          <p:cNvPr id="130" name="Google Shape;130;p20"/>
          <p:cNvGrpSpPr/>
          <p:nvPr/>
        </p:nvGrpSpPr>
        <p:grpSpPr>
          <a:xfrm>
            <a:off x="5203914" y="2938967"/>
            <a:ext cx="196772" cy="593656"/>
            <a:chOff x="5958946" y="2938958"/>
            <a:chExt cx="198900" cy="593656"/>
          </a:xfrm>
        </p:grpSpPr>
        <p:cxnSp>
          <p:nvCxnSpPr>
            <p:cNvPr id="131" name="Google Shape;131;p20"/>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132" name="Google Shape;132;p20"/>
            <p:cNvSpPr/>
            <p:nvPr/>
          </p:nvSpPr>
          <p:spPr>
            <a:xfrm flipH="1" rot="10800000">
              <a:off x="5958946" y="3333714"/>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20"/>
          <p:cNvSpPr txBox="1"/>
          <p:nvPr>
            <p:ph idx="4294967295" type="body"/>
          </p:nvPr>
        </p:nvSpPr>
        <p:spPr>
          <a:xfrm>
            <a:off x="4341525" y="3549875"/>
            <a:ext cx="22428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Times New Roman"/>
                <a:ea typeface="Times New Roman"/>
                <a:cs typeface="Times New Roman"/>
                <a:sym typeface="Times New Roman"/>
              </a:rPr>
              <a:t>Train the network with the feature extracted in previous step</a:t>
            </a:r>
            <a:endParaRPr>
              <a:solidFill>
                <a:srgbClr val="000000"/>
              </a:solidFill>
              <a:latin typeface="Times New Roman"/>
              <a:ea typeface="Times New Roman"/>
              <a:cs typeface="Times New Roman"/>
              <a:sym typeface="Times New Roman"/>
            </a:endParaRPr>
          </a:p>
        </p:txBody>
      </p:sp>
      <p:sp>
        <p:nvSpPr>
          <p:cNvPr id="134" name="Google Shape;134;p20"/>
          <p:cNvSpPr/>
          <p:nvPr/>
        </p:nvSpPr>
        <p:spPr>
          <a:xfrm>
            <a:off x="5898478" y="2199014"/>
            <a:ext cx="18522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35" name="Google Shape;135;p20"/>
          <p:cNvSpPr txBox="1"/>
          <p:nvPr>
            <p:ph idx="4294967295" type="body"/>
          </p:nvPr>
        </p:nvSpPr>
        <p:spPr>
          <a:xfrm>
            <a:off x="6173915" y="2270189"/>
            <a:ext cx="1301700" cy="5937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lt1"/>
                </a:solidFill>
              </a:rPr>
              <a:t>Feature Matching</a:t>
            </a:r>
            <a:endParaRPr>
              <a:solidFill>
                <a:schemeClr val="lt1"/>
              </a:solidFill>
            </a:endParaRPr>
          </a:p>
        </p:txBody>
      </p:sp>
      <p:grpSp>
        <p:nvGrpSpPr>
          <p:cNvPr id="136" name="Google Shape;136;p20"/>
          <p:cNvGrpSpPr/>
          <p:nvPr/>
        </p:nvGrpSpPr>
        <p:grpSpPr>
          <a:xfrm>
            <a:off x="7327660" y="1610224"/>
            <a:ext cx="196772" cy="593656"/>
            <a:chOff x="3918084" y="1610215"/>
            <a:chExt cx="198900" cy="593656"/>
          </a:xfrm>
        </p:grpSpPr>
        <p:cxnSp>
          <p:nvCxnSpPr>
            <p:cNvPr id="137" name="Google Shape;137;p20"/>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38" name="Google Shape;138;p20"/>
            <p:cNvSpPr/>
            <p:nvPr/>
          </p:nvSpPr>
          <p:spPr>
            <a:xfrm>
              <a:off x="3918084" y="1610215"/>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20"/>
          <p:cNvSpPr txBox="1"/>
          <p:nvPr>
            <p:ph idx="4294967295" type="body"/>
          </p:nvPr>
        </p:nvSpPr>
        <p:spPr>
          <a:xfrm>
            <a:off x="6685975" y="378499"/>
            <a:ext cx="2242800" cy="1293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000000"/>
                </a:solidFill>
                <a:latin typeface="Times New Roman"/>
                <a:ea typeface="Times New Roman"/>
                <a:cs typeface="Times New Roman"/>
                <a:sym typeface="Times New Roman"/>
              </a:rPr>
              <a:t>Decides if the features captured are of the new sample or it is of the existing sample.</a:t>
            </a:r>
            <a:endParaRPr>
              <a:solidFill>
                <a:srgbClr val="000000"/>
              </a:solidFill>
              <a:latin typeface="Times New Roman"/>
              <a:ea typeface="Times New Roman"/>
              <a:cs typeface="Times New Roman"/>
              <a:sym typeface="Times New Roman"/>
            </a:endParaRPr>
          </a:p>
          <a:p>
            <a:pPr indent="0" lvl="0" marL="0" rtl="0" algn="l">
              <a:spcBef>
                <a:spcPts val="1100"/>
              </a:spcBef>
              <a:spcAft>
                <a:spcPts val="1600"/>
              </a:spcAft>
              <a:buNone/>
            </a:pPr>
            <a:r>
              <a:t/>
            </a:r>
            <a:endParaRPr sz="1600"/>
          </a:p>
        </p:txBody>
      </p:sp>
      <p:sp>
        <p:nvSpPr>
          <p:cNvPr id="140" name="Google Shape;140;p20"/>
          <p:cNvSpPr txBox="1"/>
          <p:nvPr/>
        </p:nvSpPr>
        <p:spPr>
          <a:xfrm>
            <a:off x="81850" y="-30450"/>
            <a:ext cx="9062100" cy="470400"/>
          </a:xfrm>
          <a:prstGeom prst="rect">
            <a:avLst/>
          </a:prstGeom>
          <a:solidFill>
            <a:srgbClr val="6D9EEB"/>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accent4"/>
                </a:solidFill>
                <a:latin typeface="Roboto"/>
                <a:ea typeface="Roboto"/>
                <a:cs typeface="Roboto"/>
                <a:sym typeface="Roboto"/>
              </a:rPr>
              <a:t>Steps of the algorithm used</a:t>
            </a:r>
            <a:endParaRPr sz="2400">
              <a:solidFill>
                <a:schemeClr val="accent4"/>
              </a:solidFill>
              <a:latin typeface="Roboto"/>
              <a:ea typeface="Roboto"/>
              <a:cs typeface="Roboto"/>
              <a:sym typeface="Roboto"/>
            </a:endParaRPr>
          </a:p>
        </p:txBody>
      </p:sp>
      <p:cxnSp>
        <p:nvCxnSpPr>
          <p:cNvPr id="141" name="Google Shape;141;p20"/>
          <p:cNvCxnSpPr/>
          <p:nvPr/>
        </p:nvCxnSpPr>
        <p:spPr>
          <a:xfrm rot="10800000">
            <a:off x="822555" y="3134925"/>
            <a:ext cx="16200" cy="1324500"/>
          </a:xfrm>
          <a:prstGeom prst="straightConnector1">
            <a:avLst/>
          </a:prstGeom>
          <a:noFill/>
          <a:ln cap="flat" cmpd="sng" w="9525">
            <a:solidFill>
              <a:schemeClr val="dk2"/>
            </a:solidFill>
            <a:prstDash val="solid"/>
            <a:round/>
            <a:headEnd len="med" w="med" type="none"/>
            <a:tailEnd len="med" w="med" type="triangle"/>
          </a:ln>
        </p:spPr>
      </p:cxnSp>
      <p:sp>
        <p:nvSpPr>
          <p:cNvPr id="142" name="Google Shape;142;p20"/>
          <p:cNvSpPr txBox="1"/>
          <p:nvPr/>
        </p:nvSpPr>
        <p:spPr>
          <a:xfrm>
            <a:off x="354200" y="4443950"/>
            <a:ext cx="1455600" cy="5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Real time Stream</a:t>
            </a:r>
            <a:endParaRPr sz="1800">
              <a:latin typeface="Roboto"/>
              <a:ea typeface="Roboto"/>
              <a:cs typeface="Roboto"/>
              <a:sym typeface="Roboto"/>
            </a:endParaRPr>
          </a:p>
        </p:txBody>
      </p:sp>
      <p:cxnSp>
        <p:nvCxnSpPr>
          <p:cNvPr id="143" name="Google Shape;143;p20"/>
          <p:cNvCxnSpPr/>
          <p:nvPr/>
        </p:nvCxnSpPr>
        <p:spPr>
          <a:xfrm>
            <a:off x="6958077" y="3134925"/>
            <a:ext cx="7800" cy="1051800"/>
          </a:xfrm>
          <a:prstGeom prst="straightConnector1">
            <a:avLst/>
          </a:prstGeom>
          <a:noFill/>
          <a:ln cap="flat" cmpd="sng" w="9525">
            <a:solidFill>
              <a:schemeClr val="dk2"/>
            </a:solidFill>
            <a:prstDash val="solid"/>
            <a:round/>
            <a:headEnd len="med" w="med" type="none"/>
            <a:tailEnd len="med" w="med" type="none"/>
          </a:ln>
        </p:spPr>
      </p:cxnSp>
      <p:sp>
        <p:nvSpPr>
          <p:cNvPr id="144" name="Google Shape;144;p20"/>
          <p:cNvSpPr txBox="1"/>
          <p:nvPr/>
        </p:nvSpPr>
        <p:spPr>
          <a:xfrm>
            <a:off x="6584325" y="4186725"/>
            <a:ext cx="14556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Dataset of enrolled users</a:t>
            </a:r>
            <a:endParaRPr sz="1800">
              <a:latin typeface="Roboto"/>
              <a:ea typeface="Roboto"/>
              <a:cs typeface="Roboto"/>
              <a:sym typeface="Roboto"/>
            </a:endParaRPr>
          </a:p>
        </p:txBody>
      </p:sp>
      <p:cxnSp>
        <p:nvCxnSpPr>
          <p:cNvPr id="145" name="Google Shape;145;p20"/>
          <p:cNvCxnSpPr>
            <a:stCxn id="134" idx="3"/>
          </p:cNvCxnSpPr>
          <p:nvPr/>
        </p:nvCxnSpPr>
        <p:spPr>
          <a:xfrm flipH="1" rot="10800000">
            <a:off x="7750678" y="2565164"/>
            <a:ext cx="398700" cy="6600"/>
          </a:xfrm>
          <a:prstGeom prst="straightConnector1">
            <a:avLst/>
          </a:prstGeom>
          <a:noFill/>
          <a:ln cap="flat" cmpd="sng" w="9525">
            <a:solidFill>
              <a:schemeClr val="dk2"/>
            </a:solidFill>
            <a:prstDash val="solid"/>
            <a:round/>
            <a:headEnd len="med" w="med" type="none"/>
            <a:tailEnd len="med" w="med" type="triangle"/>
          </a:ln>
        </p:spPr>
      </p:cxnSp>
      <p:sp>
        <p:nvSpPr>
          <p:cNvPr id="146" name="Google Shape;146;p20"/>
          <p:cNvSpPr txBox="1"/>
          <p:nvPr/>
        </p:nvSpPr>
        <p:spPr>
          <a:xfrm>
            <a:off x="8086475" y="2274925"/>
            <a:ext cx="1134300" cy="5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FACE</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IDENTIFIED</a:t>
            </a:r>
            <a:endParaRPr>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Object Recognition</a:t>
            </a:r>
            <a:endParaRPr/>
          </a:p>
        </p:txBody>
      </p:sp>
      <p:sp>
        <p:nvSpPr>
          <p:cNvPr id="152" name="Google Shape;152;p21"/>
          <p:cNvSpPr txBox="1"/>
          <p:nvPr>
            <p:ph idx="2" type="body"/>
          </p:nvPr>
        </p:nvSpPr>
        <p:spPr>
          <a:xfrm>
            <a:off x="4939500" y="300275"/>
            <a:ext cx="3837000" cy="4119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accent4"/>
                </a:solidFill>
                <a:latin typeface="Times New Roman"/>
                <a:ea typeface="Times New Roman"/>
                <a:cs typeface="Times New Roman"/>
                <a:sym typeface="Times New Roman"/>
              </a:rPr>
              <a:t>We implemented our object recognition system using Python,OpenCV and pre-trained dataset with single shot detector</a:t>
            </a:r>
            <a:endParaRPr sz="2400">
              <a:solidFill>
                <a:schemeClr val="accent4"/>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accent4"/>
              </a:solidFill>
              <a:latin typeface="Times New Roman"/>
              <a:ea typeface="Times New Roman"/>
              <a:cs typeface="Times New Roman"/>
              <a:sym typeface="Times New Roman"/>
            </a:endParaRPr>
          </a:p>
          <a:p>
            <a:pPr indent="-381000" lvl="0" marL="457200" rtl="0" algn="l">
              <a:spcBef>
                <a:spcPts val="0"/>
              </a:spcBef>
              <a:spcAft>
                <a:spcPts val="0"/>
              </a:spcAft>
              <a:buClr>
                <a:schemeClr val="accent4"/>
              </a:buClr>
              <a:buSzPts val="2400"/>
              <a:buFont typeface="Times New Roman"/>
              <a:buChar char="●"/>
            </a:pPr>
            <a:r>
              <a:rPr lang="en" sz="2400">
                <a:solidFill>
                  <a:schemeClr val="accent4"/>
                </a:solidFill>
                <a:latin typeface="Times New Roman"/>
                <a:ea typeface="Times New Roman"/>
                <a:cs typeface="Times New Roman"/>
                <a:sym typeface="Times New Roman"/>
              </a:rPr>
              <a:t>Dataset</a:t>
            </a:r>
            <a:endParaRPr sz="2400">
              <a:solidFill>
                <a:schemeClr val="accent4"/>
              </a:solidFill>
              <a:latin typeface="Times New Roman"/>
              <a:ea typeface="Times New Roman"/>
              <a:cs typeface="Times New Roman"/>
              <a:sym typeface="Times New Roman"/>
            </a:endParaRPr>
          </a:p>
          <a:p>
            <a:pPr indent="-381000" lvl="0" marL="457200" rtl="0" algn="l">
              <a:spcBef>
                <a:spcPts val="0"/>
              </a:spcBef>
              <a:spcAft>
                <a:spcPts val="0"/>
              </a:spcAft>
              <a:buClr>
                <a:schemeClr val="accent4"/>
              </a:buClr>
              <a:buSzPts val="2400"/>
              <a:buFont typeface="Times New Roman"/>
              <a:buChar char="●"/>
            </a:pPr>
            <a:r>
              <a:rPr lang="en" sz="2400">
                <a:solidFill>
                  <a:schemeClr val="accent4"/>
                </a:solidFill>
                <a:latin typeface="Times New Roman"/>
                <a:ea typeface="Times New Roman"/>
                <a:cs typeface="Times New Roman"/>
                <a:sym typeface="Times New Roman"/>
              </a:rPr>
              <a:t>Algorithm used</a:t>
            </a:r>
            <a:endParaRPr sz="2400">
              <a:solidFill>
                <a:schemeClr val="accent4"/>
              </a:solidFill>
              <a:latin typeface="Times New Roman"/>
              <a:ea typeface="Times New Roman"/>
              <a:cs typeface="Times New Roman"/>
              <a:sym typeface="Times New Roman"/>
            </a:endParaRPr>
          </a:p>
          <a:p>
            <a:pPr indent="-381000" lvl="0" marL="457200" rtl="0" algn="l">
              <a:spcBef>
                <a:spcPts val="0"/>
              </a:spcBef>
              <a:spcAft>
                <a:spcPts val="0"/>
              </a:spcAft>
              <a:buClr>
                <a:schemeClr val="accent4"/>
              </a:buClr>
              <a:buSzPts val="2400"/>
              <a:buFont typeface="Times New Roman"/>
              <a:buChar char="●"/>
            </a:pPr>
            <a:r>
              <a:rPr lang="en" sz="2400">
                <a:solidFill>
                  <a:schemeClr val="accent4"/>
                </a:solidFill>
                <a:latin typeface="Times New Roman"/>
                <a:ea typeface="Times New Roman"/>
                <a:cs typeface="Times New Roman"/>
                <a:sym typeface="Times New Roman"/>
              </a:rPr>
              <a:t>Challenges</a:t>
            </a:r>
            <a:endParaRPr sz="2400">
              <a:solidFill>
                <a:schemeClr val="accent4"/>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460950" y="-191300"/>
            <a:ext cx="8222100" cy="124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Dataset</a:t>
            </a:r>
            <a:endParaRPr/>
          </a:p>
        </p:txBody>
      </p:sp>
      <p:sp>
        <p:nvSpPr>
          <p:cNvPr id="158" name="Google Shape;158;p22"/>
          <p:cNvSpPr txBox="1"/>
          <p:nvPr/>
        </p:nvSpPr>
        <p:spPr>
          <a:xfrm>
            <a:off x="0" y="902075"/>
            <a:ext cx="9144000" cy="4241400"/>
          </a:xfrm>
          <a:prstGeom prst="rect">
            <a:avLst/>
          </a:prstGeom>
          <a:solidFill>
            <a:schemeClr val="lt1"/>
          </a:solid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There are two type of deep neural networks usually involved in recognition - base network (mobilenet) and detection network (single shot detector).</a:t>
            </a:r>
            <a:endParaRPr sz="1800">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High level features for classification or detection are provided by the base network. MobileNet uses of convolution to produce high level features.</a:t>
            </a:r>
            <a:endParaRPr sz="1800">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To implement classification, detection network i.e. SSD is used directly to get the detection because SSD directly uses last convolutional layer on base network itself for detection task.</a:t>
            </a:r>
            <a:endParaRPr sz="1800">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This model can therefore detect 90 objects classes in images (+1 for the background class).</a:t>
            </a:r>
            <a:endParaRPr sz="18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460950" y="-191300"/>
            <a:ext cx="8222100" cy="124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Algorithm </a:t>
            </a:r>
            <a:endParaRPr/>
          </a:p>
        </p:txBody>
      </p:sp>
      <p:sp>
        <p:nvSpPr>
          <p:cNvPr id="164" name="Google Shape;164;p23"/>
          <p:cNvSpPr txBox="1"/>
          <p:nvPr/>
        </p:nvSpPr>
        <p:spPr>
          <a:xfrm>
            <a:off x="0" y="902075"/>
            <a:ext cx="9144000" cy="4241400"/>
          </a:xfrm>
          <a:prstGeom prst="rect">
            <a:avLst/>
          </a:prstGeom>
          <a:solidFill>
            <a:schemeClr val="lt1"/>
          </a:solidFill>
          <a:ln>
            <a:noFill/>
          </a:ln>
        </p:spPr>
        <p:txBody>
          <a:bodyPr anchorCtr="0" anchor="t" bIns="91425" lIns="91425" spcFirstLastPara="1" rIns="91425" wrap="square" tIns="91425">
            <a:noAutofit/>
          </a:bodyPr>
          <a:lstStyle/>
          <a:p>
            <a:pPr indent="0" lvl="0" marL="0" rtl="0" algn="l">
              <a:lnSpc>
                <a:spcPct val="150000"/>
              </a:lnSpc>
              <a:spcBef>
                <a:spcPts val="1000"/>
              </a:spcBef>
              <a:spcAft>
                <a:spcPts val="0"/>
              </a:spcAft>
              <a:buNone/>
            </a:pPr>
            <a:r>
              <a:rPr lang="en" sz="1800">
                <a:latin typeface="Times New Roman"/>
                <a:ea typeface="Times New Roman"/>
                <a:cs typeface="Times New Roman"/>
                <a:sym typeface="Times New Roman"/>
              </a:rPr>
              <a:t>We go through the following steps to classify image objects using deep learning :</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lang="en" sz="1800">
                <a:latin typeface="Times New Roman"/>
                <a:ea typeface="Times New Roman"/>
                <a:cs typeface="Times New Roman"/>
                <a:sym typeface="Times New Roman"/>
              </a:rPr>
              <a:t>1) Loading the model</a:t>
            </a:r>
            <a:endParaRPr sz="1800">
              <a:latin typeface="Times New Roman"/>
              <a:ea typeface="Times New Roman"/>
              <a:cs typeface="Times New Roman"/>
              <a:sym typeface="Times New Roman"/>
            </a:endParaRPr>
          </a:p>
          <a:p>
            <a:pPr indent="0" lvl="0" marL="0" rtl="0" algn="l">
              <a:lnSpc>
                <a:spcPct val="150000"/>
              </a:lnSpc>
              <a:spcBef>
                <a:spcPts val="1300"/>
              </a:spcBef>
              <a:spcAft>
                <a:spcPts val="0"/>
              </a:spcAft>
              <a:buNone/>
            </a:pPr>
            <a:r>
              <a:rPr lang="en" sz="1800">
                <a:latin typeface="Times New Roman"/>
                <a:ea typeface="Times New Roman"/>
                <a:cs typeface="Times New Roman"/>
                <a:sym typeface="Times New Roman"/>
              </a:rPr>
              <a:t>We start by loading the class label rows from disk into a list, which is in our caffemodel file, specifying camera to be used to take the input stream, and the threshold that we need to make any detection. after which forward method is used to forward-propagate the frame for classification.</a:t>
            </a:r>
            <a:endParaRPr sz="1800">
              <a:latin typeface="Times New Roman"/>
              <a:ea typeface="Times New Roman"/>
              <a:cs typeface="Times New Roman"/>
              <a:sym typeface="Times New Roman"/>
            </a:endParaRPr>
          </a:p>
          <a:p>
            <a:pPr indent="0" lvl="0" marL="0" rtl="0" algn="l">
              <a:lnSpc>
                <a:spcPct val="150000"/>
              </a:lnSpc>
              <a:spcBef>
                <a:spcPts val="1300"/>
              </a:spcBef>
              <a:spcAft>
                <a:spcPts val="0"/>
              </a:spcAft>
              <a:buNone/>
            </a:pPr>
            <a:r>
              <a:rPr lang="en" sz="1800">
                <a:latin typeface="Times New Roman"/>
                <a:ea typeface="Times New Roman"/>
                <a:cs typeface="Times New Roman"/>
                <a:sym typeface="Times New Roman"/>
              </a:rPr>
              <a:t>2) Preprocessing</a:t>
            </a:r>
            <a:endParaRPr sz="1800">
              <a:latin typeface="Times New Roman"/>
              <a:ea typeface="Times New Roman"/>
              <a:cs typeface="Times New Roman"/>
              <a:sym typeface="Times New Roman"/>
            </a:endParaRPr>
          </a:p>
          <a:p>
            <a:pPr indent="0" lvl="0" marL="0" rtl="0" algn="l">
              <a:lnSpc>
                <a:spcPct val="150000"/>
              </a:lnSpc>
              <a:spcBef>
                <a:spcPts val="1300"/>
              </a:spcBef>
              <a:spcAft>
                <a:spcPts val="0"/>
              </a:spcAft>
              <a:buNone/>
            </a:pPr>
            <a:r>
              <a:rPr lang="en" sz="1800">
                <a:latin typeface="Times New Roman"/>
                <a:ea typeface="Times New Roman"/>
                <a:cs typeface="Times New Roman"/>
                <a:sym typeface="Times New Roman"/>
              </a:rPr>
              <a:t>Our input frame requires fixed spatial dimensions so we need to make sure the the frame captured is resized before we perform mean subtraction to normalize the input.</a:t>
            </a:r>
            <a:endParaRPr sz="18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4"/>
          <p:cNvSpPr txBox="1"/>
          <p:nvPr/>
        </p:nvSpPr>
        <p:spPr>
          <a:xfrm>
            <a:off x="200200" y="231000"/>
            <a:ext cx="8762400" cy="429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latin typeface="Times New Roman"/>
                <a:ea typeface="Times New Roman"/>
                <a:cs typeface="Times New Roman"/>
                <a:sym typeface="Times New Roman"/>
              </a:rPr>
              <a:t>3) Output</a:t>
            </a:r>
            <a:endParaRPr sz="1800">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As there are chance that multiple objects are detected in a single frame, we loop over our predictions. Associated with each detection, we apply a check on the confidence.</a:t>
            </a:r>
            <a:endParaRPr sz="1800">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To decide whether or not to display the prediction in the terminal, we check if the confidence is high enough or not. If the confidence is high enough, we finalize the prediction. </a:t>
            </a:r>
            <a:endParaRPr sz="1800">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 Once we get the detection and draw the rectangle on the frame over the detected object and display it in the frame along with the confidence.</a:t>
            </a:r>
            <a:endParaRPr sz="1800">
              <a:latin typeface="Times New Roman"/>
              <a:ea typeface="Times New Roman"/>
              <a:cs typeface="Times New Roman"/>
              <a:sym typeface="Times New Roman"/>
            </a:endParaRPr>
          </a:p>
          <a:p>
            <a:pPr indent="0" lvl="0" marL="0" rtl="0" algn="l">
              <a:lnSpc>
                <a:spcPct val="150000"/>
              </a:lnSpc>
              <a:spcBef>
                <a:spcPts val="110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460950" y="-191300"/>
            <a:ext cx="8222100" cy="124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Dataset anomalies</a:t>
            </a:r>
            <a:r>
              <a:rPr lang="en"/>
              <a:t> </a:t>
            </a:r>
            <a:endParaRPr/>
          </a:p>
        </p:txBody>
      </p:sp>
      <p:sp>
        <p:nvSpPr>
          <p:cNvPr id="176" name="Google Shape;176;p25"/>
          <p:cNvSpPr txBox="1"/>
          <p:nvPr/>
        </p:nvSpPr>
        <p:spPr>
          <a:xfrm>
            <a:off x="0" y="902075"/>
            <a:ext cx="9144000" cy="4241400"/>
          </a:xfrm>
          <a:prstGeom prst="rect">
            <a:avLst/>
          </a:prstGeom>
          <a:solidFill>
            <a:schemeClr val="lt1"/>
          </a:solid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Many factors need to be taken care of while creating a dataset.  So, we have to create dataset under various conditions like the light conditions, different expressions, face orientation, along with any accessories like glasses etc.</a:t>
            </a:r>
            <a:endParaRPr sz="1800">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For object recognition, the object needs to be examined under following conditions:</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Lightning</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Positioning</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Mirroring</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Occlusion</a:t>
            </a:r>
            <a:endParaRPr sz="1800">
              <a:latin typeface="Times New Roman"/>
              <a:ea typeface="Times New Roman"/>
              <a:cs typeface="Times New Roman"/>
              <a:sym typeface="Times New Roman"/>
            </a:endParaRPr>
          </a:p>
          <a:p>
            <a:pPr indent="0" lvl="0" marL="0" rtl="0" algn="l">
              <a:lnSpc>
                <a:spcPct val="150000"/>
              </a:lnSpc>
              <a:spcBef>
                <a:spcPts val="1100"/>
              </a:spcBef>
              <a:spcAft>
                <a:spcPts val="0"/>
              </a:spcAft>
              <a:buNone/>
            </a:pPr>
            <a:r>
              <a:t/>
            </a:r>
            <a:endParaRPr sz="1800">
              <a:latin typeface="Times New Roman"/>
              <a:ea typeface="Times New Roman"/>
              <a:cs typeface="Times New Roman"/>
              <a:sym typeface="Times New Roman"/>
            </a:endParaRPr>
          </a:p>
          <a:p>
            <a:pPr indent="0" lvl="0" marL="0" rtl="0" algn="l">
              <a:lnSpc>
                <a:spcPct val="150000"/>
              </a:lnSpc>
              <a:spcBef>
                <a:spcPts val="110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460950" y="-191300"/>
            <a:ext cx="8222100" cy="124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Hardware Solutions</a:t>
            </a:r>
            <a:endParaRPr/>
          </a:p>
        </p:txBody>
      </p:sp>
      <p:sp>
        <p:nvSpPr>
          <p:cNvPr id="182" name="Google Shape;182;p26"/>
          <p:cNvSpPr txBox="1"/>
          <p:nvPr/>
        </p:nvSpPr>
        <p:spPr>
          <a:xfrm>
            <a:off x="0" y="902075"/>
            <a:ext cx="9144000" cy="4241400"/>
          </a:xfrm>
          <a:prstGeom prst="rect">
            <a:avLst/>
          </a:prstGeom>
          <a:solidFill>
            <a:schemeClr val="lt1"/>
          </a:solidFill>
          <a:ln>
            <a:noFill/>
          </a:ln>
        </p:spPr>
        <p:txBody>
          <a:bodyPr anchorCtr="0" anchor="t" bIns="91425" lIns="91425" spcFirstLastPara="1" rIns="91425" wrap="square" tIns="91425">
            <a:noAutofit/>
          </a:bodyPr>
          <a:lstStyle/>
          <a:p>
            <a:pPr indent="-342900" lvl="0" marL="457200" marR="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GPU</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For each person we need to have enough number of pictures including all the factors mentioned in dataset anomalies so that the training happens efficiently. </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This implies that our training dataset will have huge amount of pictures. </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Also, for real time processing of video, we need to have higher frame rate. So to accomplish all these requirements, we need to configure GPU in our system. </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To enable GPU in our system, we followed the CUDA toolkit documentation.</a:t>
            </a:r>
            <a:endParaRPr sz="1800">
              <a:latin typeface="Times New Roman"/>
              <a:ea typeface="Times New Roman"/>
              <a:cs typeface="Times New Roman"/>
              <a:sym typeface="Times New Roman"/>
            </a:endParaRPr>
          </a:p>
          <a:p>
            <a:pPr indent="0" lvl="0" marL="0" rtl="0" algn="l">
              <a:lnSpc>
                <a:spcPct val="150000"/>
              </a:lnSpc>
              <a:spcBef>
                <a:spcPts val="1100"/>
              </a:spcBef>
              <a:spcAft>
                <a:spcPts val="0"/>
              </a:spcAft>
              <a:buNone/>
            </a:pPr>
            <a:r>
              <a:t/>
            </a:r>
            <a:endParaRPr sz="1800">
              <a:latin typeface="Times New Roman"/>
              <a:ea typeface="Times New Roman"/>
              <a:cs typeface="Times New Roman"/>
              <a:sym typeface="Times New Roman"/>
            </a:endParaRPr>
          </a:p>
          <a:p>
            <a:pPr indent="0" lvl="0" marL="0" rtl="0" algn="l">
              <a:lnSpc>
                <a:spcPct val="150000"/>
              </a:lnSpc>
              <a:spcBef>
                <a:spcPts val="1100"/>
              </a:spcBef>
              <a:spcAft>
                <a:spcPts val="0"/>
              </a:spcAft>
              <a:buNone/>
            </a:pPr>
            <a:r>
              <a:t/>
            </a:r>
            <a:endParaRPr sz="1800">
              <a:latin typeface="Times New Roman"/>
              <a:ea typeface="Times New Roman"/>
              <a:cs typeface="Times New Roman"/>
              <a:sym typeface="Times New Roman"/>
            </a:endParaRPr>
          </a:p>
          <a:p>
            <a:pPr indent="0" lvl="0" marL="0" rtl="0" algn="l">
              <a:lnSpc>
                <a:spcPct val="150000"/>
              </a:lnSpc>
              <a:spcBef>
                <a:spcPts val="110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7"/>
          <p:cNvSpPr txBox="1"/>
          <p:nvPr/>
        </p:nvSpPr>
        <p:spPr>
          <a:xfrm>
            <a:off x="200200" y="231000"/>
            <a:ext cx="8762400" cy="42966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Droidcam</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In order to correctly train and classify the faces and objects in the frame, it is very essential that they are captured as it is. </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To ensure that the resolution of the frame captured is up to the mark, we need a better camera than the default webcam. </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 substitute that we chose instead of webcam is camera of our android mobile phone. To integrate this with our system, we use droidcam.</a:t>
            </a:r>
            <a:endParaRPr sz="1800">
              <a:latin typeface="Times New Roman"/>
              <a:ea typeface="Times New Roman"/>
              <a:cs typeface="Times New Roman"/>
              <a:sym typeface="Times New Roman"/>
            </a:endParaRPr>
          </a:p>
          <a:p>
            <a:pPr indent="-342900" lvl="1" marL="914400" rtl="0" algn="l">
              <a:lnSpc>
                <a:spcPct val="15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This live stream from the mobile camera is given as input to our program which gives a frame with better resolution and hence better results.</a:t>
            </a:r>
            <a:endParaRPr sz="1800">
              <a:latin typeface="Times New Roman"/>
              <a:ea typeface="Times New Roman"/>
              <a:cs typeface="Times New Roman"/>
              <a:sym typeface="Times New Roman"/>
            </a:endParaRPr>
          </a:p>
          <a:p>
            <a:pPr indent="0" lvl="0" marL="0" rtl="0" algn="l">
              <a:lnSpc>
                <a:spcPct val="150000"/>
              </a:lnSpc>
              <a:spcBef>
                <a:spcPts val="110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600"/>
              <a:t>Challenges</a:t>
            </a:r>
            <a:endParaRPr sz="3600"/>
          </a:p>
        </p:txBody>
      </p:sp>
      <p:sp>
        <p:nvSpPr>
          <p:cNvPr id="194" name="Google Shape;194;p28"/>
          <p:cNvSpPr txBox="1"/>
          <p:nvPr>
            <p:ph idx="4294967295" type="body"/>
          </p:nvPr>
        </p:nvSpPr>
        <p:spPr>
          <a:xfrm>
            <a:off x="0" y="619050"/>
            <a:ext cx="9144000" cy="40101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If we encounter a new but very similar face, we get a false positive i.e. a match with the wrong person even if the face is unknown. Our algorithm is basically based on k nearest neighbours, so if the distance between the embeddings computed for new face and the trained embeddings is greater than k, we get a match. So, it all boils down to the computation of the 128 embeddings of the new face which in turn depends on the contours and features of the face. </a:t>
            </a:r>
            <a:endParaRPr>
              <a:solidFill>
                <a:srgbClr val="000000"/>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When we train the images, we basically compute the facial embeddings of each face in the image and finally optimize them to be as far from a different face as possible. Doing this for such huge dataset requires a lot a time which is not very efficient. </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0" y="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600"/>
              <a:t>Results</a:t>
            </a:r>
            <a:endParaRPr sz="3600"/>
          </a:p>
        </p:txBody>
      </p:sp>
      <p:sp>
        <p:nvSpPr>
          <p:cNvPr id="200" name="Google Shape;200;p29"/>
          <p:cNvSpPr txBox="1"/>
          <p:nvPr>
            <p:ph idx="4294967295" type="body"/>
          </p:nvPr>
        </p:nvSpPr>
        <p:spPr>
          <a:xfrm>
            <a:off x="0" y="619050"/>
            <a:ext cx="4471800" cy="4379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solidFill>
                  <a:srgbClr val="000000"/>
                </a:solidFill>
                <a:latin typeface="Times New Roman"/>
                <a:ea typeface="Times New Roman"/>
                <a:cs typeface="Times New Roman"/>
                <a:sym typeface="Times New Roman"/>
              </a:rPr>
              <a:t>Frame rate</a:t>
            </a:r>
            <a:endParaRPr b="1">
              <a:solidFill>
                <a:srgbClr val="000000"/>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lang="en">
                <a:solidFill>
                  <a:srgbClr val="000000"/>
                </a:solidFill>
                <a:latin typeface="Times New Roman"/>
                <a:ea typeface="Times New Roman"/>
                <a:cs typeface="Times New Roman"/>
                <a:sym typeface="Times New Roman"/>
              </a:rPr>
              <a:t>Since our project deals with recognition in real time video stream, one of the very important aspects in evaluating the results is frame rate.</a:t>
            </a:r>
            <a:endParaRPr>
              <a:solidFill>
                <a:srgbClr val="000000"/>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lang="en">
                <a:solidFill>
                  <a:srgbClr val="000000"/>
                </a:solidFill>
                <a:latin typeface="Times New Roman"/>
                <a:ea typeface="Times New Roman"/>
                <a:cs typeface="Times New Roman"/>
                <a:sym typeface="Times New Roman"/>
              </a:rPr>
              <a:t>Our program runs on an average frame rate of </a:t>
            </a:r>
            <a:r>
              <a:rPr lang="en">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1600"/>
              </a:spcBef>
              <a:spcAft>
                <a:spcPts val="1600"/>
              </a:spcAft>
              <a:buNone/>
            </a:pPr>
            <a:r>
              <a:t/>
            </a:r>
            <a:endParaRPr/>
          </a:p>
        </p:txBody>
      </p:sp>
      <p:pic>
        <p:nvPicPr>
          <p:cNvPr id="201" name="Google Shape;201;p29"/>
          <p:cNvPicPr preferRelativeResize="0"/>
          <p:nvPr/>
        </p:nvPicPr>
        <p:blipFill rotWithShape="1">
          <a:blip r:embed="rId3">
            <a:alphaModFix/>
          </a:blip>
          <a:srcRect b="-18689" l="-1569" r="1569" t="15660"/>
          <a:stretch/>
        </p:blipFill>
        <p:spPr>
          <a:xfrm>
            <a:off x="273750" y="2766625"/>
            <a:ext cx="3822575" cy="2693775"/>
          </a:xfrm>
          <a:prstGeom prst="rect">
            <a:avLst/>
          </a:prstGeom>
          <a:noFill/>
          <a:ln>
            <a:noFill/>
          </a:ln>
        </p:spPr>
      </p:pic>
      <p:sp>
        <p:nvSpPr>
          <p:cNvPr id="202" name="Google Shape;202;p29"/>
          <p:cNvSpPr txBox="1"/>
          <p:nvPr/>
        </p:nvSpPr>
        <p:spPr>
          <a:xfrm>
            <a:off x="4672100" y="619050"/>
            <a:ext cx="4471800" cy="4456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latin typeface="Times New Roman"/>
                <a:ea typeface="Times New Roman"/>
                <a:cs typeface="Times New Roman"/>
                <a:sym typeface="Times New Roman"/>
              </a:rPr>
              <a:t>8 frames per second.</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 sz="1800">
                <a:latin typeface="Times New Roman"/>
                <a:ea typeface="Times New Roman"/>
                <a:cs typeface="Times New Roman"/>
                <a:sym typeface="Times New Roman"/>
              </a:rPr>
              <a:t>Accuracy</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lang="en" sz="1800">
                <a:latin typeface="Times New Roman"/>
                <a:ea typeface="Times New Roman"/>
                <a:cs typeface="Times New Roman"/>
                <a:sym typeface="Times New Roman"/>
              </a:rPr>
              <a:t>In case of face recognition, we get a 90% accuracy in detecting true positives i.e. it correctly recognizes faces of people who are enrolled in a our dataset. We are able to recognize up to 8 people in a single frame at the same time. While recognizing that the face encountered is unknown, it mostly depends on how different the face is but we get around 50% accuracy in determining true negatives.</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8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nvSpPr>
        <p:spPr>
          <a:xfrm>
            <a:off x="98250" y="802500"/>
            <a:ext cx="5189700" cy="3865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latin typeface="Times New Roman"/>
                <a:ea typeface="Times New Roman"/>
                <a:cs typeface="Times New Roman"/>
                <a:sym typeface="Times New Roman"/>
              </a:rPr>
              <a:t>In case of object recognition, we get a 90% accuracy in recognizing objects which belong to one of the 90 object classes in our dataset. We can recognize up to 4-5 objects in the single frame at the same time.</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lang="en" sz="1800">
                <a:latin typeface="Times New Roman"/>
                <a:ea typeface="Times New Roman"/>
                <a:cs typeface="Times New Roman"/>
                <a:sym typeface="Times New Roman"/>
              </a:rPr>
              <a:t>Our accuracy increases when we use the external camera to stream the real time video.</a:t>
            </a:r>
            <a:endParaRPr sz="1800">
              <a:latin typeface="Roboto"/>
              <a:ea typeface="Roboto"/>
              <a:cs typeface="Roboto"/>
              <a:sym typeface="Roboto"/>
            </a:endParaRPr>
          </a:p>
        </p:txBody>
      </p:sp>
      <p:pic>
        <p:nvPicPr>
          <p:cNvPr id="208" name="Google Shape;208;p30"/>
          <p:cNvPicPr preferRelativeResize="0"/>
          <p:nvPr/>
        </p:nvPicPr>
        <p:blipFill>
          <a:blip r:embed="rId3">
            <a:alphaModFix/>
          </a:blip>
          <a:stretch>
            <a:fillRect/>
          </a:stretch>
        </p:blipFill>
        <p:spPr>
          <a:xfrm>
            <a:off x="5181250" y="1335425"/>
            <a:ext cx="3743600" cy="3332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31"/>
          <p:cNvPicPr preferRelativeResize="0"/>
          <p:nvPr/>
        </p:nvPicPr>
        <p:blipFill>
          <a:blip r:embed="rId3">
            <a:alphaModFix/>
          </a:blip>
          <a:stretch>
            <a:fillRect/>
          </a:stretch>
        </p:blipFill>
        <p:spPr>
          <a:xfrm>
            <a:off x="1" y="0"/>
            <a:ext cx="9143999" cy="5143500"/>
          </a:xfrm>
          <a:prstGeom prst="rect">
            <a:avLst/>
          </a:prstGeom>
          <a:noFill/>
          <a:ln>
            <a:noFill/>
          </a:ln>
        </p:spPr>
      </p:pic>
      <p:sp>
        <p:nvSpPr>
          <p:cNvPr id="214" name="Google Shape;214;p31"/>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220" name="Google Shape;220;p32"/>
          <p:cNvSpPr txBox="1"/>
          <p:nvPr>
            <p:ph idx="4294967295" type="body"/>
          </p:nvPr>
        </p:nvSpPr>
        <p:spPr>
          <a:xfrm>
            <a:off x="471900" y="619050"/>
            <a:ext cx="8222100" cy="4416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000000"/>
                </a:solidFill>
                <a:latin typeface="Arial"/>
                <a:ea typeface="Arial"/>
                <a:cs typeface="Arial"/>
                <a:sym typeface="Arial"/>
              </a:rPr>
              <a:t>[1]</a:t>
            </a:r>
            <a:r>
              <a:rPr lang="en" u="sng">
                <a:solidFill>
                  <a:schemeClr val="hlink"/>
                </a:solidFill>
                <a:highlight>
                  <a:srgbClr val="FDFDFD"/>
                </a:highlight>
                <a:latin typeface="Times New Roman"/>
                <a:ea typeface="Times New Roman"/>
                <a:cs typeface="Times New Roman"/>
                <a:sym typeface="Times New Roman"/>
                <a:hlinkClick r:id="rId3"/>
              </a:rPr>
              <a:t>https://github.com/ageitgey/face_recognition/wiki/Face-Recognition-Accuracy-Problems</a:t>
            </a:r>
            <a:endParaRPr u="sng">
              <a:solidFill>
                <a:schemeClr val="hlink"/>
              </a:solidFill>
              <a:highlight>
                <a:srgbClr val="FDFDFD"/>
              </a:highlight>
              <a:latin typeface="Times New Roman"/>
              <a:ea typeface="Times New Roman"/>
              <a:cs typeface="Times New Roman"/>
              <a:sym typeface="Times New Roman"/>
              <a:hlinkClick r:id="rId4"/>
            </a:endParaRPr>
          </a:p>
          <a:p>
            <a:pPr indent="0" lvl="0" marL="0" rtl="0" algn="l">
              <a:lnSpc>
                <a:spcPct val="100000"/>
              </a:lnSpc>
              <a:spcBef>
                <a:spcPts val="0"/>
              </a:spcBef>
              <a:spcAft>
                <a:spcPts val="0"/>
              </a:spcAft>
              <a:buNone/>
            </a:pPr>
            <a:r>
              <a:rPr lang="en">
                <a:solidFill>
                  <a:srgbClr val="000000"/>
                </a:solidFill>
                <a:highlight>
                  <a:srgbClr val="FFFFFF"/>
                </a:highlight>
                <a:latin typeface="Arial"/>
                <a:ea typeface="Arial"/>
                <a:cs typeface="Arial"/>
                <a:sym typeface="Arial"/>
              </a:rPr>
              <a:t>[2]</a:t>
            </a:r>
            <a:r>
              <a:rPr lang="en" u="sng">
                <a:solidFill>
                  <a:schemeClr val="hlink"/>
                </a:solidFill>
                <a:highlight>
                  <a:srgbClr val="FDFDFD"/>
                </a:highlight>
                <a:latin typeface="Times New Roman"/>
                <a:ea typeface="Times New Roman"/>
                <a:cs typeface="Times New Roman"/>
                <a:sym typeface="Times New Roman"/>
                <a:hlinkClick r:id="rId5"/>
              </a:rPr>
              <a:t>https://www.eeweb.com/profile/rajeevthaware/articles/real-time-face-detection-and-recognition-with-svm-and-hog-features</a:t>
            </a:r>
            <a:endParaRPr u="sng">
              <a:solidFill>
                <a:schemeClr val="hlink"/>
              </a:solidFill>
              <a:highlight>
                <a:srgbClr val="FDFDFD"/>
              </a:highlight>
              <a:latin typeface="Times New Roman"/>
              <a:ea typeface="Times New Roman"/>
              <a:cs typeface="Times New Roman"/>
              <a:sym typeface="Times New Roman"/>
              <a:hlinkClick r:id="rId6"/>
            </a:endParaRPr>
          </a:p>
          <a:p>
            <a:pPr indent="0" lvl="0" marL="0" rtl="0" algn="l">
              <a:lnSpc>
                <a:spcPct val="100000"/>
              </a:lnSpc>
              <a:spcBef>
                <a:spcPts val="1100"/>
              </a:spcBef>
              <a:spcAft>
                <a:spcPts val="0"/>
              </a:spcAft>
              <a:buNone/>
            </a:pPr>
            <a:r>
              <a:rPr lang="en">
                <a:solidFill>
                  <a:srgbClr val="000000"/>
                </a:solidFill>
                <a:latin typeface="Arial"/>
                <a:ea typeface="Arial"/>
                <a:cs typeface="Arial"/>
                <a:sym typeface="Arial"/>
              </a:rPr>
              <a:t>[3]</a:t>
            </a:r>
            <a:r>
              <a:rPr lang="en" u="sng">
                <a:solidFill>
                  <a:schemeClr val="hlink"/>
                </a:solidFill>
                <a:latin typeface="Times New Roman"/>
                <a:ea typeface="Times New Roman"/>
                <a:cs typeface="Times New Roman"/>
                <a:sym typeface="Times New Roman"/>
                <a:hlinkClick r:id="rId7"/>
              </a:rPr>
              <a:t>https://azure.microsoft.com/en-in/services/cognitive-services/face/</a:t>
            </a:r>
            <a:endParaRPr u="sng">
              <a:solidFill>
                <a:schemeClr val="hlink"/>
              </a:solidFill>
              <a:latin typeface="Times New Roman"/>
              <a:ea typeface="Times New Roman"/>
              <a:cs typeface="Times New Roman"/>
              <a:sym typeface="Times New Roman"/>
              <a:hlinkClick r:id="rId8"/>
            </a:endParaRPr>
          </a:p>
          <a:p>
            <a:pPr indent="0" lvl="0" marL="0" rtl="0" algn="l">
              <a:lnSpc>
                <a:spcPct val="100000"/>
              </a:lnSpc>
              <a:spcBef>
                <a:spcPts val="0"/>
              </a:spcBef>
              <a:spcAft>
                <a:spcPts val="0"/>
              </a:spcAft>
              <a:buNone/>
            </a:pPr>
            <a:r>
              <a:rPr lang="en">
                <a:solidFill>
                  <a:srgbClr val="000000"/>
                </a:solidFill>
                <a:highlight>
                  <a:srgbClr val="FFFFFF"/>
                </a:highlight>
                <a:latin typeface="Arial"/>
                <a:ea typeface="Arial"/>
                <a:cs typeface="Arial"/>
                <a:sym typeface="Arial"/>
              </a:rPr>
              <a:t>[4]</a:t>
            </a:r>
            <a:r>
              <a:rPr lang="en" u="sng">
                <a:solidFill>
                  <a:schemeClr val="hlink"/>
                </a:solidFill>
                <a:highlight>
                  <a:srgbClr val="FDFDFD"/>
                </a:highlight>
                <a:latin typeface="Times New Roman"/>
                <a:ea typeface="Times New Roman"/>
                <a:cs typeface="Times New Roman"/>
                <a:sym typeface="Times New Roman"/>
                <a:hlinkClick r:id="rId9"/>
              </a:rPr>
              <a:t>https://medium.com/@devalshah1619/face-recognition-using-eigenfaces-technique-f221d505d4f7</a:t>
            </a:r>
            <a:endParaRPr u="sng">
              <a:solidFill>
                <a:schemeClr val="hlink"/>
              </a:solidFill>
              <a:highlight>
                <a:srgbClr val="FDFDFD"/>
              </a:highlight>
              <a:latin typeface="Times New Roman"/>
              <a:ea typeface="Times New Roman"/>
              <a:cs typeface="Times New Roman"/>
              <a:sym typeface="Times New Roman"/>
              <a:hlinkClick r:id="rId10"/>
            </a:endParaRPr>
          </a:p>
          <a:p>
            <a:pPr indent="0" lvl="0" marL="0" rtl="0" algn="l">
              <a:lnSpc>
                <a:spcPct val="100000"/>
              </a:lnSpc>
              <a:spcBef>
                <a:spcPts val="1100"/>
              </a:spcBef>
              <a:spcAft>
                <a:spcPts val="0"/>
              </a:spcAft>
              <a:buNone/>
            </a:pPr>
            <a:r>
              <a:rPr lang="en">
                <a:solidFill>
                  <a:srgbClr val="000000"/>
                </a:solidFill>
                <a:latin typeface="Arial"/>
                <a:ea typeface="Arial"/>
                <a:cs typeface="Arial"/>
                <a:sym typeface="Arial"/>
              </a:rPr>
              <a:t>[5]</a:t>
            </a:r>
            <a:r>
              <a:rPr lang="en" u="sng">
                <a:solidFill>
                  <a:schemeClr val="hlink"/>
                </a:solidFill>
                <a:latin typeface="Times New Roman"/>
                <a:ea typeface="Times New Roman"/>
                <a:cs typeface="Times New Roman"/>
                <a:sym typeface="Times New Roman"/>
                <a:hlinkClick r:id="rId11"/>
              </a:rPr>
              <a:t>https://www.youtube.com/watch?v=ej9wFtHZu4c</a:t>
            </a:r>
            <a:endParaRPr u="sng">
              <a:solidFill>
                <a:schemeClr val="hlink"/>
              </a:solidFill>
              <a:latin typeface="Times New Roman"/>
              <a:ea typeface="Times New Roman"/>
              <a:cs typeface="Times New Roman"/>
              <a:sym typeface="Times New Roman"/>
              <a:hlinkClick r:id="rId12"/>
            </a:endParaRPr>
          </a:p>
          <a:p>
            <a:pPr indent="0" lvl="0" marL="0" rtl="0" algn="just">
              <a:lnSpc>
                <a:spcPct val="100000"/>
              </a:lnSpc>
              <a:spcBef>
                <a:spcPts val="0"/>
              </a:spcBef>
              <a:spcAft>
                <a:spcPts val="0"/>
              </a:spcAft>
              <a:buNone/>
            </a:pPr>
            <a:r>
              <a:rPr lang="en">
                <a:solidFill>
                  <a:srgbClr val="000000"/>
                </a:solidFill>
                <a:highlight>
                  <a:srgbClr val="FFFFFF"/>
                </a:highlight>
                <a:latin typeface="Arial"/>
                <a:ea typeface="Arial"/>
                <a:cs typeface="Arial"/>
                <a:sym typeface="Arial"/>
              </a:rPr>
              <a:t>[6]</a:t>
            </a:r>
            <a:r>
              <a:rPr lang="en" u="sng">
                <a:solidFill>
                  <a:schemeClr val="hlink"/>
                </a:solidFill>
                <a:highlight>
                  <a:srgbClr val="FDFDFD"/>
                </a:highlight>
                <a:latin typeface="Times New Roman"/>
                <a:ea typeface="Times New Roman"/>
                <a:cs typeface="Times New Roman"/>
                <a:sym typeface="Times New Roman"/>
                <a:hlinkClick r:id="rId13"/>
              </a:rPr>
              <a:t>https://towardsdatascience.com/faster-rcnn-object-detection-f865e5ed7fc4</a:t>
            </a:r>
            <a:endParaRPr u="sng">
              <a:solidFill>
                <a:schemeClr val="hlink"/>
              </a:solidFill>
              <a:highlight>
                <a:srgbClr val="FDFDFD"/>
              </a:highlight>
              <a:latin typeface="Times New Roman"/>
              <a:ea typeface="Times New Roman"/>
              <a:cs typeface="Times New Roman"/>
              <a:sym typeface="Times New Roman"/>
              <a:hlinkClick r:id="rId14"/>
            </a:endParaRPr>
          </a:p>
          <a:p>
            <a:pPr indent="0" lvl="0" marL="0" rtl="0" algn="l">
              <a:lnSpc>
                <a:spcPct val="100000"/>
              </a:lnSpc>
              <a:spcBef>
                <a:spcPts val="1100"/>
              </a:spcBef>
              <a:spcAft>
                <a:spcPts val="0"/>
              </a:spcAft>
              <a:buNone/>
            </a:pPr>
            <a:r>
              <a:rPr lang="en">
                <a:solidFill>
                  <a:srgbClr val="000000"/>
                </a:solidFill>
                <a:highlight>
                  <a:srgbClr val="FFFFFF"/>
                </a:highlight>
                <a:latin typeface="Arial"/>
                <a:ea typeface="Arial"/>
                <a:cs typeface="Arial"/>
                <a:sym typeface="Arial"/>
              </a:rPr>
              <a:t>[7]</a:t>
            </a:r>
            <a:r>
              <a:rPr lang="en" u="sng">
                <a:solidFill>
                  <a:schemeClr val="hlink"/>
                </a:solidFill>
                <a:highlight>
                  <a:srgbClr val="FDFDFD"/>
                </a:highlight>
                <a:latin typeface="Times New Roman"/>
                <a:ea typeface="Times New Roman"/>
                <a:cs typeface="Times New Roman"/>
                <a:sym typeface="Times New Roman"/>
                <a:hlinkClick r:id="rId15"/>
              </a:rPr>
              <a:t>https://www.linkedin.com/pulse/comparison-yolo-darknet-versus-darkflow-rasmus-kromann</a:t>
            </a:r>
            <a:endParaRPr u="sng">
              <a:solidFill>
                <a:schemeClr val="hlink"/>
              </a:solidFill>
              <a:highlight>
                <a:srgbClr val="FDFDFD"/>
              </a:highlight>
              <a:latin typeface="Times New Roman"/>
              <a:ea typeface="Times New Roman"/>
              <a:cs typeface="Times New Roman"/>
              <a:sym typeface="Times New Roman"/>
              <a:hlinkClick r:id="rId16"/>
            </a:endParaRPr>
          </a:p>
          <a:p>
            <a:pPr indent="0" lvl="0" marL="0" rtl="0" algn="l">
              <a:lnSpc>
                <a:spcPct val="100000"/>
              </a:lnSpc>
              <a:spcBef>
                <a:spcPts val="1100"/>
              </a:spcBef>
              <a:spcAft>
                <a:spcPts val="0"/>
              </a:spcAft>
              <a:buNone/>
            </a:pPr>
            <a:r>
              <a:rPr lang="en">
                <a:solidFill>
                  <a:srgbClr val="000000"/>
                </a:solidFill>
                <a:latin typeface="Arial"/>
                <a:ea typeface="Arial"/>
                <a:cs typeface="Arial"/>
                <a:sym typeface="Arial"/>
              </a:rPr>
              <a:t>[8]</a:t>
            </a:r>
            <a:r>
              <a:rPr lang="en" u="sng">
                <a:solidFill>
                  <a:schemeClr val="hlink"/>
                </a:solidFill>
                <a:highlight>
                  <a:srgbClr val="FDFDFD"/>
                </a:highlight>
                <a:latin typeface="Times New Roman"/>
                <a:ea typeface="Times New Roman"/>
                <a:cs typeface="Times New Roman"/>
                <a:sym typeface="Times New Roman"/>
                <a:hlinkClick r:id="rId17"/>
              </a:rPr>
              <a:t>https://docs.nvidia.com/cuda/cuda-installation-guide-linux/index.html</a:t>
            </a:r>
            <a:endParaRPr u="sng">
              <a:solidFill>
                <a:schemeClr val="hlink"/>
              </a:solidFill>
              <a:highlight>
                <a:srgbClr val="FDFDFD"/>
              </a:highlight>
              <a:latin typeface="Times New Roman"/>
              <a:ea typeface="Times New Roman"/>
              <a:cs typeface="Times New Roman"/>
              <a:sym typeface="Times New Roman"/>
              <a:hlinkClick r:id="rId18"/>
            </a:endParaRPr>
          </a:p>
          <a:p>
            <a:pPr indent="0" lvl="0" marL="0" rtl="0" algn="l">
              <a:lnSpc>
                <a:spcPct val="100000"/>
              </a:lnSpc>
              <a:spcBef>
                <a:spcPts val="1100"/>
              </a:spcBef>
              <a:spcAft>
                <a:spcPts val="0"/>
              </a:spcAft>
              <a:buNone/>
            </a:pPr>
            <a:r>
              <a:rPr lang="en">
                <a:solidFill>
                  <a:srgbClr val="000000"/>
                </a:solidFill>
                <a:latin typeface="Arial"/>
                <a:ea typeface="Arial"/>
                <a:cs typeface="Arial"/>
                <a:sym typeface="Arial"/>
              </a:rPr>
              <a:t>[9]</a:t>
            </a:r>
            <a:r>
              <a:rPr lang="en" u="sng">
                <a:solidFill>
                  <a:schemeClr val="hlink"/>
                </a:solidFill>
                <a:highlight>
                  <a:srgbClr val="FDFDFD"/>
                </a:highlight>
                <a:latin typeface="Times New Roman"/>
                <a:ea typeface="Times New Roman"/>
                <a:cs typeface="Times New Roman"/>
                <a:sym typeface="Times New Roman"/>
                <a:hlinkClick r:id="rId19"/>
              </a:rPr>
              <a:t>tt</a:t>
            </a:r>
            <a:r>
              <a:rPr lang="en" u="sng">
                <a:solidFill>
                  <a:schemeClr val="hlink"/>
                </a:solidFill>
                <a:highlight>
                  <a:srgbClr val="FDFDFD"/>
                </a:highlight>
                <a:latin typeface="Times New Roman"/>
                <a:ea typeface="Times New Roman"/>
                <a:cs typeface="Times New Roman"/>
                <a:sym typeface="Times New Roman"/>
                <a:hlinkClick r:id="rId20"/>
              </a:rPr>
              <a:t>p://www.skipser.com/p/2/p/android-as-webcam.html</a:t>
            </a:r>
            <a:endParaRPr u="sng">
              <a:solidFill>
                <a:schemeClr val="hlink"/>
              </a:solidFill>
              <a:highlight>
                <a:srgbClr val="FDFDFD"/>
              </a:highlight>
              <a:latin typeface="Times New Roman"/>
              <a:ea typeface="Times New Roman"/>
              <a:cs typeface="Times New Roman"/>
              <a:sym typeface="Times New Roman"/>
              <a:hlinkClick r:id="rId21"/>
            </a:endParaRPr>
          </a:p>
          <a:p>
            <a:pPr indent="0" lvl="0" marL="0" rtl="0" algn="l">
              <a:spcBef>
                <a:spcPts val="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txBox="1"/>
          <p:nvPr>
            <p:ph type="title"/>
          </p:nvPr>
        </p:nvSpPr>
        <p:spPr>
          <a:xfrm>
            <a:off x="475500" y="1258525"/>
            <a:ext cx="82221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Thank you</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