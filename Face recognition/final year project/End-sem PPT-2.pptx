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
      <p:font typeface="Old Standard TT"/>
      <p:regular r:id="rId19"/>
      <p:bold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schemas.openxmlformats.org/officeDocument/2006/relationships/font" Target="fonts/OldStandardTT-regular.fnt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86ee2cd81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86ee2cd81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486ee2cd81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486ee2cd81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50">
                <a:solidFill>
                  <a:srgbClr val="555555"/>
                </a:solidFill>
                <a:highlight>
                  <a:srgbClr val="FFFFFF"/>
                </a:highlight>
              </a:rPr>
              <a:t>For the dlib facial recognition network, the output feature vector is </a:t>
            </a:r>
            <a:r>
              <a:rPr b="1" lang="en-GB" sz="1150">
                <a:solidFill>
                  <a:srgbClr val="555555"/>
                </a:solidFill>
                <a:highlight>
                  <a:srgbClr val="FFFFFF"/>
                </a:highlight>
              </a:rPr>
              <a:t>128-d</a:t>
            </a:r>
            <a:r>
              <a:rPr lang="en-GB" sz="1150">
                <a:solidFill>
                  <a:srgbClr val="555555"/>
                </a:solidFill>
                <a:highlight>
                  <a:srgbClr val="FFFFFF"/>
                </a:highlight>
              </a:rPr>
              <a:t> (i.e., a list of 128 real-valued numbers) that is used to </a:t>
            </a:r>
            <a:r>
              <a:rPr i="1" lang="en-GB" sz="1150">
                <a:solidFill>
                  <a:srgbClr val="555555"/>
                </a:solidFill>
                <a:highlight>
                  <a:srgbClr val="FFFFFF"/>
                </a:highlight>
              </a:rPr>
              <a:t>quantify the face</a:t>
            </a:r>
            <a:r>
              <a:rPr lang="en-GB" sz="1150">
                <a:solidFill>
                  <a:srgbClr val="555555"/>
                </a:solidFill>
                <a:highlight>
                  <a:srgbClr val="FFFFFF"/>
                </a:highlight>
              </a:rPr>
              <a:t>. Training the network is done using </a:t>
            </a:r>
            <a:r>
              <a:rPr b="1" lang="en-GB" sz="1150">
                <a:solidFill>
                  <a:srgbClr val="555555"/>
                </a:solidFill>
                <a:highlight>
                  <a:srgbClr val="FFFFFF"/>
                </a:highlight>
              </a:rPr>
              <a:t>triplets</a:t>
            </a:r>
            <a:r>
              <a:rPr lang="en-GB" sz="1150">
                <a:solidFill>
                  <a:srgbClr val="555555"/>
                </a:solidFill>
                <a:highlight>
                  <a:srgbClr val="FFFFFF"/>
                </a:highlight>
              </a:rPr>
              <a:t>:</a:t>
            </a:r>
            <a:endParaRPr sz="1150">
              <a:solidFill>
                <a:srgbClr val="555555"/>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GB" sz="1150">
                <a:solidFill>
                  <a:srgbClr val="555555"/>
                </a:solidFill>
                <a:highlight>
                  <a:srgbClr val="FFFFFF"/>
                </a:highlight>
              </a:rPr>
              <a:t>Here we provide three images to the network:</a:t>
            </a:r>
            <a:endParaRPr sz="1150">
              <a:solidFill>
                <a:srgbClr val="555555"/>
              </a:solidFill>
              <a:highlight>
                <a:srgbClr val="FFFFFF"/>
              </a:highlight>
            </a:endParaRPr>
          </a:p>
          <a:p>
            <a:pPr indent="-301625" lvl="0" marL="457200" rtl="0" algn="l">
              <a:lnSpc>
                <a:spcPct val="115000"/>
              </a:lnSpc>
              <a:spcBef>
                <a:spcPts val="1300"/>
              </a:spcBef>
              <a:spcAft>
                <a:spcPts val="0"/>
              </a:spcAft>
              <a:buClr>
                <a:srgbClr val="555555"/>
              </a:buClr>
              <a:buSzPts val="1150"/>
              <a:buChar char="●"/>
            </a:pPr>
            <a:r>
              <a:rPr lang="en-GB" sz="1150">
                <a:solidFill>
                  <a:srgbClr val="555555"/>
                </a:solidFill>
                <a:highlight>
                  <a:srgbClr val="FFFFFF"/>
                </a:highlight>
              </a:rPr>
              <a:t>Two of these images are example faces of the </a:t>
            </a:r>
            <a:r>
              <a:rPr i="1" lang="en-GB" sz="1150">
                <a:solidFill>
                  <a:srgbClr val="555555"/>
                </a:solidFill>
                <a:highlight>
                  <a:srgbClr val="FFFFFF"/>
                </a:highlight>
              </a:rPr>
              <a:t>same</a:t>
            </a:r>
            <a:r>
              <a:rPr lang="en-GB" sz="1150">
                <a:solidFill>
                  <a:srgbClr val="555555"/>
                </a:solidFill>
                <a:highlight>
                  <a:srgbClr val="FFFFFF"/>
                </a:highlight>
              </a:rPr>
              <a:t> person.</a:t>
            </a:r>
            <a:endParaRPr sz="1150">
              <a:solidFill>
                <a:srgbClr val="555555"/>
              </a:solidFill>
              <a:highlight>
                <a:srgbClr val="FFFFFF"/>
              </a:highlight>
            </a:endParaRPr>
          </a:p>
          <a:p>
            <a:pPr indent="-301625" lvl="0" marL="457200" rtl="0" algn="l">
              <a:lnSpc>
                <a:spcPct val="115000"/>
              </a:lnSpc>
              <a:spcBef>
                <a:spcPts val="0"/>
              </a:spcBef>
              <a:spcAft>
                <a:spcPts val="0"/>
              </a:spcAft>
              <a:buClr>
                <a:srgbClr val="555555"/>
              </a:buClr>
              <a:buSzPts val="1150"/>
              <a:buChar char="●"/>
            </a:pPr>
            <a:r>
              <a:rPr lang="en-GB" sz="1150">
                <a:solidFill>
                  <a:srgbClr val="555555"/>
                </a:solidFill>
                <a:highlight>
                  <a:srgbClr val="FFFFFF"/>
                </a:highlight>
              </a:rPr>
              <a:t>The third image is a </a:t>
            </a:r>
            <a:r>
              <a:rPr i="1" lang="en-GB" sz="1150">
                <a:solidFill>
                  <a:srgbClr val="555555"/>
                </a:solidFill>
                <a:highlight>
                  <a:srgbClr val="FFFFFF"/>
                </a:highlight>
              </a:rPr>
              <a:t>random</a:t>
            </a:r>
            <a:r>
              <a:rPr lang="en-GB" sz="1150">
                <a:solidFill>
                  <a:srgbClr val="555555"/>
                </a:solidFill>
                <a:highlight>
                  <a:srgbClr val="FFFFFF"/>
                </a:highlight>
              </a:rPr>
              <a:t> face from our dataset and is </a:t>
            </a:r>
            <a:r>
              <a:rPr i="1" lang="en-GB" sz="1150">
                <a:solidFill>
                  <a:srgbClr val="555555"/>
                </a:solidFill>
                <a:highlight>
                  <a:srgbClr val="FFFFFF"/>
                </a:highlight>
              </a:rPr>
              <a:t>not</a:t>
            </a:r>
            <a:r>
              <a:rPr lang="en-GB" sz="1150">
                <a:solidFill>
                  <a:srgbClr val="555555"/>
                </a:solidFill>
                <a:highlight>
                  <a:srgbClr val="FFFFFF"/>
                </a:highlight>
              </a:rPr>
              <a:t> the same person as the other two images.</a:t>
            </a:r>
            <a:endParaRPr sz="1150">
              <a:solidFill>
                <a:srgbClr val="555555"/>
              </a:solidFill>
              <a:highlight>
                <a:srgbClr val="FFFFFF"/>
              </a:highlight>
            </a:endParaRPr>
          </a:p>
          <a:p>
            <a:pPr indent="0" lvl="0" marL="0" rtl="0" algn="l">
              <a:lnSpc>
                <a:spcPct val="150000"/>
              </a:lnSpc>
              <a:spcBef>
                <a:spcPts val="1100"/>
              </a:spcBef>
              <a:spcAft>
                <a:spcPts val="0"/>
              </a:spcAft>
              <a:buClr>
                <a:schemeClr val="dk1"/>
              </a:buClr>
              <a:buSzPts val="1100"/>
              <a:buFont typeface="Arial"/>
              <a:buNone/>
            </a:pPr>
            <a:r>
              <a:rPr lang="en-GB" sz="1150">
                <a:solidFill>
                  <a:srgbClr val="555555"/>
                </a:solidFill>
                <a:highlight>
                  <a:srgbClr val="FFFFFF"/>
                </a:highlight>
              </a:rPr>
              <a:t>As an example, let’s again consider </a:t>
            </a:r>
            <a:r>
              <a:rPr b="1" lang="en-GB" sz="1150">
                <a:solidFill>
                  <a:srgbClr val="555555"/>
                </a:solidFill>
                <a:highlight>
                  <a:srgbClr val="FFFFFF"/>
                </a:highlight>
              </a:rPr>
              <a:t>Figure 1</a:t>
            </a:r>
            <a:r>
              <a:rPr lang="en-GB" sz="1150">
                <a:solidFill>
                  <a:srgbClr val="555555"/>
                </a:solidFill>
                <a:highlight>
                  <a:srgbClr val="FFFFFF"/>
                </a:highlight>
              </a:rPr>
              <a:t> above where we provided three images: one of Chad Smith and two of Will Ferrell.</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Our network quantifies the faces, constructing the 128-d embedding (quantification) for each.</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From there, the general idea is that we’ll </a:t>
            </a:r>
            <a:r>
              <a:rPr b="1" lang="en-GB" sz="1150">
                <a:solidFill>
                  <a:srgbClr val="555555"/>
                </a:solidFill>
                <a:highlight>
                  <a:srgbClr val="FFFFFF"/>
                </a:highlight>
              </a:rPr>
              <a:t>tweak the weights</a:t>
            </a:r>
            <a:r>
              <a:rPr lang="en-GB" sz="1150">
                <a:solidFill>
                  <a:srgbClr val="555555"/>
                </a:solidFill>
                <a:highlight>
                  <a:srgbClr val="FFFFFF"/>
                </a:highlight>
              </a:rPr>
              <a:t> of our neural network so that the 128-d measurements of the two Will Ferrel will be </a:t>
            </a:r>
            <a:r>
              <a:rPr i="1" lang="en-GB" sz="1150">
                <a:solidFill>
                  <a:srgbClr val="555555"/>
                </a:solidFill>
                <a:highlight>
                  <a:srgbClr val="FFFFFF"/>
                </a:highlight>
              </a:rPr>
              <a:t>closer to each other</a:t>
            </a:r>
            <a:r>
              <a:rPr lang="en-GB" sz="1150">
                <a:solidFill>
                  <a:srgbClr val="555555"/>
                </a:solidFill>
                <a:highlight>
                  <a:srgbClr val="FFFFFF"/>
                </a:highlight>
              </a:rPr>
              <a:t> and farther from the measurements for Chad Smith.</a:t>
            </a:r>
            <a:endParaRPr sz="1150">
              <a:solidFill>
                <a:srgbClr val="555555"/>
              </a:solidFill>
              <a:highlight>
                <a:srgbClr val="FFFFFF"/>
              </a:highlight>
            </a:endParaRPr>
          </a:p>
          <a:p>
            <a:pPr indent="0" lvl="0" marL="0" rtl="0" algn="l">
              <a:spcBef>
                <a:spcPts val="1300"/>
              </a:spcBef>
              <a:spcAft>
                <a:spcPts val="0"/>
              </a:spcAft>
              <a:buNone/>
            </a:pPr>
            <a:r>
              <a:t/>
            </a:r>
            <a:endParaRPr sz="1150">
              <a:solidFill>
                <a:srgbClr val="555555"/>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86ee2cd81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86ee2cd81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r>
              <a:rPr lang="en-GB">
                <a:solidFill>
                  <a:schemeClr val="dk1"/>
                </a:solidFill>
              </a:rPr>
              <a:t>Before we can </a:t>
            </a:r>
            <a:r>
              <a:rPr i="1" lang="en-GB">
                <a:solidFill>
                  <a:schemeClr val="dk1"/>
                </a:solidFill>
              </a:rPr>
              <a:t>encode</a:t>
            </a:r>
            <a:r>
              <a:rPr lang="en-GB">
                <a:solidFill>
                  <a:schemeClr val="dk1"/>
                </a:solidFill>
              </a:rPr>
              <a:t> faces in images we first need to </a:t>
            </a:r>
            <a:r>
              <a:rPr i="1" lang="en-GB">
                <a:solidFill>
                  <a:schemeClr val="dk1"/>
                </a:solidFill>
              </a:rPr>
              <a:t>detect</a:t>
            </a:r>
            <a:r>
              <a:rPr lang="en-GB">
                <a:solidFill>
                  <a:schemeClr val="dk1"/>
                </a:solidFill>
              </a:rPr>
              <a:t> them. Or two face detection methods include either hogor cnn . </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lang="en-GB">
                <a:solidFill>
                  <a:schemeClr val="dk1"/>
                </a:solidFill>
              </a:rPr>
              <a:t>The CNN method is more accurate but slower. HOG is faster but less accurate.</a:t>
            </a:r>
            <a:endParaRPr>
              <a:solidFill>
                <a:schemeClr val="dk1"/>
              </a:solidFill>
            </a:endParaRPr>
          </a:p>
          <a:p>
            <a:pPr indent="0" lvl="0" marL="0" rtl="0" algn="l">
              <a:spcBef>
                <a:spcPts val="0"/>
              </a:spcBef>
              <a:spcAft>
                <a:spcPts val="0"/>
              </a:spcAft>
              <a:buClr>
                <a:srgbClr val="000000"/>
              </a:buClr>
              <a:buSzPts val="1100"/>
              <a:buFont typeface="Arial"/>
              <a:buNone/>
            </a:pPr>
            <a:r>
              <a:rPr lang="en-GB" sz="1450">
                <a:solidFill>
                  <a:schemeClr val="dk1"/>
                </a:solidFill>
              </a:rPr>
              <a:t>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486ee2cd81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486ee2cd81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GB" sz="1150">
                <a:solidFill>
                  <a:srgbClr val="555555"/>
                </a:solidFill>
                <a:highlight>
                  <a:srgbClr val="FFFFFF"/>
                </a:highlight>
              </a:rPr>
              <a:t>To train a face recognition model with deep learning, each input batch of data includes three images:</a:t>
            </a:r>
            <a:endParaRPr sz="1150">
              <a:solidFill>
                <a:srgbClr val="555555"/>
              </a:solidFill>
              <a:highlight>
                <a:srgbClr val="FFFFFF"/>
              </a:highlight>
            </a:endParaRPr>
          </a:p>
          <a:p>
            <a:pPr indent="-301625" lvl="0" marL="457200" rtl="0" algn="l">
              <a:lnSpc>
                <a:spcPct val="115000"/>
              </a:lnSpc>
              <a:spcBef>
                <a:spcPts val="1300"/>
              </a:spcBef>
              <a:spcAft>
                <a:spcPts val="0"/>
              </a:spcAft>
              <a:buClr>
                <a:srgbClr val="555555"/>
              </a:buClr>
              <a:buSzPts val="1150"/>
              <a:buAutoNum type="arabicPeriod"/>
            </a:pPr>
            <a:r>
              <a:rPr lang="en-GB" sz="1150">
                <a:solidFill>
                  <a:srgbClr val="555555"/>
                </a:solidFill>
                <a:highlight>
                  <a:srgbClr val="FFFFFF"/>
                </a:highlight>
              </a:rPr>
              <a:t>The </a:t>
            </a:r>
            <a:r>
              <a:rPr i="1" lang="en-GB" sz="1150">
                <a:solidFill>
                  <a:srgbClr val="555555"/>
                </a:solidFill>
                <a:highlight>
                  <a:srgbClr val="FFFFFF"/>
                </a:highlight>
              </a:rPr>
              <a:t>anchor</a:t>
            </a:r>
            <a:endParaRPr i="1" sz="1150">
              <a:solidFill>
                <a:srgbClr val="555555"/>
              </a:solidFill>
              <a:highlight>
                <a:srgbClr val="FFFFFF"/>
              </a:highlight>
            </a:endParaRPr>
          </a:p>
          <a:p>
            <a:pPr indent="-301625" lvl="0" marL="457200" rtl="0" algn="l">
              <a:lnSpc>
                <a:spcPct val="115000"/>
              </a:lnSpc>
              <a:spcBef>
                <a:spcPts val="0"/>
              </a:spcBef>
              <a:spcAft>
                <a:spcPts val="0"/>
              </a:spcAft>
              <a:buClr>
                <a:srgbClr val="555555"/>
              </a:buClr>
              <a:buSzPts val="1150"/>
              <a:buAutoNum type="arabicPeriod"/>
            </a:pPr>
            <a:r>
              <a:rPr lang="en-GB" sz="1150">
                <a:solidFill>
                  <a:srgbClr val="555555"/>
                </a:solidFill>
                <a:highlight>
                  <a:srgbClr val="FFFFFF"/>
                </a:highlight>
              </a:rPr>
              <a:t>The </a:t>
            </a:r>
            <a:r>
              <a:rPr i="1" lang="en-GB" sz="1150">
                <a:solidFill>
                  <a:srgbClr val="555555"/>
                </a:solidFill>
                <a:highlight>
                  <a:srgbClr val="FFFFFF"/>
                </a:highlight>
              </a:rPr>
              <a:t>positive</a:t>
            </a:r>
            <a:r>
              <a:rPr lang="en-GB" sz="1150">
                <a:solidFill>
                  <a:srgbClr val="555555"/>
                </a:solidFill>
                <a:highlight>
                  <a:srgbClr val="FFFFFF"/>
                </a:highlight>
              </a:rPr>
              <a:t> image</a:t>
            </a:r>
            <a:endParaRPr sz="1150">
              <a:solidFill>
                <a:srgbClr val="555555"/>
              </a:solidFill>
              <a:highlight>
                <a:srgbClr val="FFFFFF"/>
              </a:highlight>
            </a:endParaRPr>
          </a:p>
          <a:p>
            <a:pPr indent="-301625" lvl="0" marL="457200" rtl="0" algn="l">
              <a:lnSpc>
                <a:spcPct val="115000"/>
              </a:lnSpc>
              <a:spcBef>
                <a:spcPts val="0"/>
              </a:spcBef>
              <a:spcAft>
                <a:spcPts val="0"/>
              </a:spcAft>
              <a:buClr>
                <a:srgbClr val="555555"/>
              </a:buClr>
              <a:buSzPts val="1150"/>
              <a:buAutoNum type="arabicPeriod"/>
            </a:pPr>
            <a:r>
              <a:rPr lang="en-GB" sz="1150">
                <a:solidFill>
                  <a:srgbClr val="555555"/>
                </a:solidFill>
                <a:highlight>
                  <a:srgbClr val="FFFFFF"/>
                </a:highlight>
              </a:rPr>
              <a:t>The </a:t>
            </a:r>
            <a:r>
              <a:rPr i="1" lang="en-GB" sz="1150">
                <a:solidFill>
                  <a:srgbClr val="555555"/>
                </a:solidFill>
                <a:highlight>
                  <a:srgbClr val="FFFFFF"/>
                </a:highlight>
              </a:rPr>
              <a:t>negative</a:t>
            </a:r>
            <a:r>
              <a:rPr lang="en-GB" sz="1150">
                <a:solidFill>
                  <a:srgbClr val="555555"/>
                </a:solidFill>
                <a:highlight>
                  <a:srgbClr val="FFFFFF"/>
                </a:highlight>
              </a:rPr>
              <a:t> image</a:t>
            </a:r>
            <a:endParaRPr sz="1150">
              <a:solidFill>
                <a:srgbClr val="555555"/>
              </a:solidFill>
              <a:highlight>
                <a:srgbClr val="FFFFFF"/>
              </a:highlight>
            </a:endParaRPr>
          </a:p>
          <a:p>
            <a:pPr indent="0" lvl="0" marL="0" rtl="0" algn="l">
              <a:lnSpc>
                <a:spcPct val="150000"/>
              </a:lnSpc>
              <a:spcBef>
                <a:spcPts val="1100"/>
              </a:spcBef>
              <a:spcAft>
                <a:spcPts val="0"/>
              </a:spcAft>
              <a:buClr>
                <a:schemeClr val="dk1"/>
              </a:buClr>
              <a:buSzPts val="1100"/>
              <a:buFont typeface="Arial"/>
              <a:buNone/>
            </a:pPr>
            <a:r>
              <a:rPr lang="en-GB" sz="1150">
                <a:solidFill>
                  <a:srgbClr val="555555"/>
                </a:solidFill>
                <a:highlight>
                  <a:srgbClr val="FFFFFF"/>
                </a:highlight>
              </a:rPr>
              <a:t>The anchor is our current face and has identity </a:t>
            </a:r>
            <a:r>
              <a:rPr i="1" lang="en-GB" sz="1150">
                <a:solidFill>
                  <a:srgbClr val="555555"/>
                </a:solidFill>
                <a:highlight>
                  <a:srgbClr val="FFFFFF"/>
                </a:highlight>
              </a:rPr>
              <a:t>A</a:t>
            </a:r>
            <a:r>
              <a:rPr lang="en-GB" sz="1150">
                <a:solidFill>
                  <a:srgbClr val="555555"/>
                </a:solidFill>
                <a:highlight>
                  <a:srgbClr val="FFFFFF"/>
                </a:highlight>
              </a:rPr>
              <a:t>.</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The second image is our positive image — this image also contains a face of person </a:t>
            </a:r>
            <a:r>
              <a:rPr i="1" lang="en-GB" sz="1150">
                <a:solidFill>
                  <a:srgbClr val="555555"/>
                </a:solidFill>
                <a:highlight>
                  <a:srgbClr val="FFFFFF"/>
                </a:highlight>
              </a:rPr>
              <a:t>A</a:t>
            </a:r>
            <a:r>
              <a:rPr lang="en-GB" sz="1150">
                <a:solidFill>
                  <a:srgbClr val="555555"/>
                </a:solidFill>
                <a:highlight>
                  <a:srgbClr val="FFFFFF"/>
                </a:highlight>
              </a:rPr>
              <a:t>.</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The negative image, on the other hand, </a:t>
            </a:r>
            <a:r>
              <a:rPr b="1" i="1" lang="en-GB" sz="1150">
                <a:solidFill>
                  <a:srgbClr val="555555"/>
                </a:solidFill>
                <a:highlight>
                  <a:srgbClr val="FFFFFF"/>
                </a:highlight>
              </a:rPr>
              <a:t>does not have the same identity</a:t>
            </a:r>
            <a:r>
              <a:rPr lang="en-GB" sz="1150">
                <a:solidFill>
                  <a:srgbClr val="555555"/>
                </a:solidFill>
                <a:highlight>
                  <a:srgbClr val="FFFFFF"/>
                </a:highlight>
              </a:rPr>
              <a:t>, and could belong to person </a:t>
            </a:r>
            <a:r>
              <a:rPr i="1" lang="en-GB" sz="1150">
                <a:solidFill>
                  <a:srgbClr val="555555"/>
                </a:solidFill>
                <a:highlight>
                  <a:srgbClr val="FFFFFF"/>
                </a:highlight>
              </a:rPr>
              <a:t>B</a:t>
            </a:r>
            <a:r>
              <a:rPr lang="en-GB" sz="1150">
                <a:solidFill>
                  <a:srgbClr val="555555"/>
                </a:solidFill>
                <a:highlight>
                  <a:srgbClr val="FFFFFF"/>
                </a:highlight>
              </a:rPr>
              <a:t>, </a:t>
            </a:r>
            <a:r>
              <a:rPr i="1" lang="en-GB" sz="1150">
                <a:solidFill>
                  <a:srgbClr val="555555"/>
                </a:solidFill>
                <a:highlight>
                  <a:srgbClr val="FFFFFF"/>
                </a:highlight>
              </a:rPr>
              <a:t>C</a:t>
            </a:r>
            <a:r>
              <a:rPr lang="en-GB" sz="1150">
                <a:solidFill>
                  <a:srgbClr val="555555"/>
                </a:solidFill>
                <a:highlight>
                  <a:srgbClr val="FFFFFF"/>
                </a:highlight>
              </a:rPr>
              <a:t>, or even </a:t>
            </a:r>
            <a:r>
              <a:rPr i="1" lang="en-GB" sz="1150">
                <a:solidFill>
                  <a:srgbClr val="555555"/>
                </a:solidFill>
                <a:highlight>
                  <a:srgbClr val="FFFFFF"/>
                </a:highlight>
              </a:rPr>
              <a:t>Y</a:t>
            </a:r>
            <a:r>
              <a:rPr lang="en-GB" sz="1150">
                <a:solidFill>
                  <a:srgbClr val="555555"/>
                </a:solidFill>
                <a:highlight>
                  <a:srgbClr val="FFFFFF"/>
                </a:highlight>
              </a:rPr>
              <a:t>!</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The point is that the anchor and positive image both belong to the same person/face while the negative image does not contain the same face.</a:t>
            </a:r>
            <a:endParaRPr sz="1150">
              <a:solidFill>
                <a:srgbClr val="555555"/>
              </a:solidFill>
              <a:highlight>
                <a:srgbClr val="FFFFFF"/>
              </a:highlight>
            </a:endParaRPr>
          </a:p>
          <a:p>
            <a:pPr indent="0" lvl="0" marL="0" rtl="0" algn="l">
              <a:lnSpc>
                <a:spcPct val="150000"/>
              </a:lnSpc>
              <a:spcBef>
                <a:spcPts val="1300"/>
              </a:spcBef>
              <a:spcAft>
                <a:spcPts val="0"/>
              </a:spcAft>
              <a:buClr>
                <a:schemeClr val="dk1"/>
              </a:buClr>
              <a:buSzPts val="1100"/>
              <a:buFont typeface="Arial"/>
              <a:buNone/>
            </a:pPr>
            <a:r>
              <a:rPr lang="en-GB" sz="1150">
                <a:solidFill>
                  <a:srgbClr val="555555"/>
                </a:solidFill>
                <a:highlight>
                  <a:srgbClr val="FFFFFF"/>
                </a:highlight>
              </a:rPr>
              <a:t>The neural network computes the 128-d embeddings for each face and then tweaks the weights of the network (via the triplet loss function) such that:</a:t>
            </a:r>
            <a:endParaRPr sz="1150">
              <a:solidFill>
                <a:srgbClr val="555555"/>
              </a:solidFill>
              <a:highlight>
                <a:srgbClr val="FFFFFF"/>
              </a:highlight>
            </a:endParaRPr>
          </a:p>
          <a:p>
            <a:pPr indent="-301625" lvl="0" marL="457200" rtl="0" algn="l">
              <a:lnSpc>
                <a:spcPct val="115000"/>
              </a:lnSpc>
              <a:spcBef>
                <a:spcPts val="1300"/>
              </a:spcBef>
              <a:spcAft>
                <a:spcPts val="0"/>
              </a:spcAft>
              <a:buClr>
                <a:srgbClr val="555555"/>
              </a:buClr>
              <a:buSzPts val="1150"/>
              <a:buAutoNum type="arabicPeriod"/>
            </a:pPr>
            <a:r>
              <a:rPr lang="en-GB" sz="1150">
                <a:solidFill>
                  <a:srgbClr val="555555"/>
                </a:solidFill>
                <a:highlight>
                  <a:srgbClr val="FFFFFF"/>
                </a:highlight>
              </a:rPr>
              <a:t>The 128-d embeddings of the anchor and positive image lie closer together</a:t>
            </a:r>
            <a:endParaRPr sz="1150">
              <a:solidFill>
                <a:srgbClr val="555555"/>
              </a:solidFill>
              <a:highlight>
                <a:srgbClr val="FFFFFF"/>
              </a:highlight>
            </a:endParaRPr>
          </a:p>
          <a:p>
            <a:pPr indent="-301625" lvl="0" marL="457200" rtl="0" algn="l">
              <a:lnSpc>
                <a:spcPct val="115000"/>
              </a:lnSpc>
              <a:spcBef>
                <a:spcPts val="0"/>
              </a:spcBef>
              <a:spcAft>
                <a:spcPts val="0"/>
              </a:spcAft>
              <a:buClr>
                <a:srgbClr val="555555"/>
              </a:buClr>
              <a:buSzPts val="1150"/>
              <a:buAutoNum type="arabicPeriod"/>
            </a:pPr>
            <a:r>
              <a:rPr lang="en-GB" sz="1150">
                <a:solidFill>
                  <a:srgbClr val="555555"/>
                </a:solidFill>
                <a:highlight>
                  <a:srgbClr val="FFFFFF"/>
                </a:highlight>
              </a:rPr>
              <a:t>While at the same time, pushing the embeddings for the negative image father away</a:t>
            </a:r>
            <a:endParaRPr sz="1150">
              <a:solidFill>
                <a:srgbClr val="555555"/>
              </a:solidFill>
              <a:highlight>
                <a:srgbClr val="FFFFFF"/>
              </a:highlight>
            </a:endParaRPr>
          </a:p>
          <a:p>
            <a:pPr indent="0" lvl="0" marL="0" rtl="0" algn="l">
              <a:lnSpc>
                <a:spcPct val="150000"/>
              </a:lnSpc>
              <a:spcBef>
                <a:spcPts val="1100"/>
              </a:spcBef>
              <a:spcAft>
                <a:spcPts val="0"/>
              </a:spcAft>
              <a:buClr>
                <a:schemeClr val="dk1"/>
              </a:buClr>
              <a:buSzPts val="1100"/>
              <a:buFont typeface="Arial"/>
              <a:buNone/>
            </a:pPr>
            <a:r>
              <a:rPr lang="en-GB" sz="1150">
                <a:solidFill>
                  <a:srgbClr val="555555"/>
                </a:solidFill>
                <a:highlight>
                  <a:srgbClr val="FFFFFF"/>
                </a:highlight>
              </a:rPr>
              <a:t>In this manner, the network is able to learn to quantify faces and return highly robust and discriminating embeddings suitable for face recognition.</a:t>
            </a:r>
            <a:endParaRPr sz="1150">
              <a:solidFill>
                <a:srgbClr val="555555"/>
              </a:solidFill>
              <a:highlight>
                <a:srgbClr val="FFFFFF"/>
              </a:highlight>
            </a:endParaRPr>
          </a:p>
          <a:p>
            <a:pPr indent="0" lvl="0" marL="0" rtl="0" algn="l">
              <a:spcBef>
                <a:spcPts val="13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4871aa46c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4871aa46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4871aa46c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4871aa46c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486ee2cd81_1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486ee2cd81_1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486ee2cd81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486ee2cd81_1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86ee2cd81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86ee2cd81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jrosebr1/imutils/blob/master/imutils/video/videostream.p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13"/>
          <p:cNvSpPr txBox="1"/>
          <p:nvPr/>
        </p:nvSpPr>
        <p:spPr>
          <a:xfrm>
            <a:off x="247275" y="173100"/>
            <a:ext cx="8518800" cy="134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sz="4800">
                <a:latin typeface="Old Standard TT"/>
                <a:ea typeface="Old Standard TT"/>
                <a:cs typeface="Old Standard TT"/>
                <a:sym typeface="Old Standard TT"/>
              </a:rPr>
              <a:t>Facial and Object </a:t>
            </a:r>
            <a:endParaRPr sz="4800">
              <a:latin typeface="Old Standard TT"/>
              <a:ea typeface="Old Standard TT"/>
              <a:cs typeface="Old Standard TT"/>
              <a:sym typeface="Old Standard TT"/>
            </a:endParaRPr>
          </a:p>
          <a:p>
            <a:pPr indent="0" lvl="0" marL="0" rtl="0" algn="ctr">
              <a:spcBef>
                <a:spcPts val="0"/>
              </a:spcBef>
              <a:spcAft>
                <a:spcPts val="0"/>
              </a:spcAft>
              <a:buNone/>
            </a:pPr>
            <a:r>
              <a:rPr lang="en-GB" sz="4800">
                <a:latin typeface="Old Standard TT"/>
                <a:ea typeface="Old Standard TT"/>
                <a:cs typeface="Old Standard TT"/>
                <a:sym typeface="Old Standard TT"/>
              </a:rPr>
              <a:t>Recognition</a:t>
            </a:r>
            <a:endParaRPr sz="4800">
              <a:latin typeface="Old Standard TT"/>
              <a:ea typeface="Old Standard TT"/>
              <a:cs typeface="Old Standard TT"/>
              <a:sym typeface="Old Standard TT"/>
            </a:endParaRPr>
          </a:p>
        </p:txBody>
      </p:sp>
      <p:sp>
        <p:nvSpPr>
          <p:cNvPr id="60" name="Google Shape;60;p13"/>
          <p:cNvSpPr txBox="1"/>
          <p:nvPr/>
        </p:nvSpPr>
        <p:spPr>
          <a:xfrm>
            <a:off x="74175" y="1867000"/>
            <a:ext cx="8976300" cy="31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GB" sz="2400">
                <a:solidFill>
                  <a:schemeClr val="dk1"/>
                </a:solidFill>
                <a:latin typeface="Roboto"/>
                <a:ea typeface="Roboto"/>
                <a:cs typeface="Roboto"/>
                <a:sym typeface="Roboto"/>
              </a:rPr>
              <a:t>Final Year Project 2018-2019</a:t>
            </a:r>
            <a:endParaRPr sz="24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GB" sz="2400">
                <a:solidFill>
                  <a:schemeClr val="dk1"/>
                </a:solidFill>
                <a:latin typeface="Roboto"/>
                <a:ea typeface="Roboto"/>
                <a:cs typeface="Roboto"/>
                <a:sym typeface="Roboto"/>
              </a:rPr>
              <a:t>End Sem Assessment</a:t>
            </a:r>
            <a:endParaRPr sz="24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2400">
              <a:solidFill>
                <a:schemeClr val="dk1"/>
              </a:solidFill>
              <a:latin typeface="Roboto"/>
              <a:ea typeface="Roboto"/>
              <a:cs typeface="Roboto"/>
              <a:sym typeface="Roboto"/>
            </a:endParaRPr>
          </a:p>
          <a:p>
            <a:pPr indent="0" lvl="0" marL="2743200" rtl="0" algn="l">
              <a:spcBef>
                <a:spcPts val="0"/>
              </a:spcBef>
              <a:spcAft>
                <a:spcPts val="0"/>
              </a:spcAft>
              <a:buNone/>
            </a:pPr>
            <a:r>
              <a:rPr lang="en-GB" sz="1800">
                <a:solidFill>
                  <a:schemeClr val="dk1"/>
                </a:solidFill>
                <a:latin typeface="Roboto"/>
                <a:ea typeface="Roboto"/>
                <a:cs typeface="Roboto"/>
                <a:sym typeface="Roboto"/>
              </a:rPr>
              <a:t>   </a:t>
            </a:r>
            <a:r>
              <a:rPr lang="en-GB" sz="1800">
                <a:solidFill>
                  <a:schemeClr val="dk1"/>
                </a:solidFill>
                <a:latin typeface="Roboto"/>
                <a:ea typeface="Roboto"/>
                <a:cs typeface="Roboto"/>
                <a:sym typeface="Roboto"/>
              </a:rPr>
              <a:t>Ankita Gonnade BT15CSE028</a:t>
            </a:r>
            <a:endParaRPr sz="18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 Shruti Nashine   BT15CSE055</a:t>
            </a:r>
            <a:endParaRPr sz="18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Under the guidance of</a:t>
            </a:r>
            <a:endParaRPr>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Dr. Praveen Kumar</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2400">
              <a:solidFill>
                <a:schemeClr val="dk1"/>
              </a:solidFill>
              <a:latin typeface="Roboto"/>
              <a:ea typeface="Roboto"/>
              <a:cs typeface="Roboto"/>
              <a:sym typeface="Roboto"/>
            </a:endParaRPr>
          </a:p>
          <a:p>
            <a:pPr indent="0" lvl="0" marL="0" rtl="0" algn="l">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457200" lvl="0" marL="2286000" rtl="0" algn="l">
              <a:spcBef>
                <a:spcPts val="0"/>
              </a:spcBef>
              <a:spcAft>
                <a:spcPts val="0"/>
              </a:spcAft>
              <a:buNone/>
            </a:pPr>
            <a:r>
              <a:rPr b="1" lang="en-GB"/>
              <a:t>Face Recognition</a:t>
            </a:r>
            <a:endParaRPr b="1"/>
          </a:p>
        </p:txBody>
      </p:sp>
      <p:sp>
        <p:nvSpPr>
          <p:cNvPr id="66" name="Google Shape;66;p14"/>
          <p:cNvSpPr txBox="1"/>
          <p:nvPr>
            <p:ph idx="1" type="body"/>
          </p:nvPr>
        </p:nvSpPr>
        <p:spPr>
          <a:xfrm>
            <a:off x="311700" y="1575475"/>
            <a:ext cx="8520600" cy="3098100"/>
          </a:xfrm>
          <a:prstGeom prst="rect">
            <a:avLst/>
          </a:prstGeom>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320675" lvl="0" marL="457200" rtl="0" algn="l">
              <a:spcBef>
                <a:spcPts val="0"/>
              </a:spcBef>
              <a:spcAft>
                <a:spcPts val="0"/>
              </a:spcAft>
              <a:buClr>
                <a:srgbClr val="000000"/>
              </a:buClr>
              <a:buSzPts val="1450"/>
              <a:buFont typeface="Arial"/>
              <a:buChar char="●"/>
            </a:pPr>
            <a:r>
              <a:rPr lang="en-GB" sz="1450">
                <a:solidFill>
                  <a:srgbClr val="000000"/>
                </a:solidFill>
                <a:highlight>
                  <a:srgbClr val="FFFFFF"/>
                </a:highlight>
                <a:latin typeface="Arial"/>
                <a:ea typeface="Arial"/>
                <a:cs typeface="Arial"/>
                <a:sym typeface="Arial"/>
              </a:rPr>
              <a:t>Libraries used:	1)dlib</a:t>
            </a:r>
            <a:br>
              <a:rPr lang="en-GB" sz="1450">
                <a:solidFill>
                  <a:srgbClr val="000000"/>
                </a:solidFill>
                <a:highlight>
                  <a:srgbClr val="FFFFFF"/>
                </a:highlight>
                <a:latin typeface="Arial"/>
                <a:ea typeface="Arial"/>
                <a:cs typeface="Arial"/>
                <a:sym typeface="Arial"/>
              </a:rPr>
            </a:br>
            <a:r>
              <a:rPr lang="en-GB" sz="1450">
                <a:solidFill>
                  <a:srgbClr val="000000"/>
                </a:solidFill>
                <a:highlight>
                  <a:srgbClr val="FFFFFF"/>
                </a:highlight>
                <a:latin typeface="Arial"/>
                <a:ea typeface="Arial"/>
                <a:cs typeface="Arial"/>
                <a:sym typeface="Arial"/>
              </a:rPr>
              <a:t>			2)face_recognition</a:t>
            </a:r>
            <a:endParaRPr sz="1450">
              <a:solidFill>
                <a:srgbClr val="000000"/>
              </a:solidFill>
              <a:highlight>
                <a:srgbClr val="FFFFFF"/>
              </a:highlight>
              <a:latin typeface="Arial"/>
              <a:ea typeface="Arial"/>
              <a:cs typeface="Arial"/>
              <a:sym typeface="Arial"/>
            </a:endParaRPr>
          </a:p>
          <a:p>
            <a:pPr indent="0" lvl="0" marL="457200" rtl="0" algn="l">
              <a:spcBef>
                <a:spcPts val="0"/>
              </a:spcBef>
              <a:spcAft>
                <a:spcPts val="0"/>
              </a:spcAft>
              <a:buNone/>
            </a:pPr>
            <a:r>
              <a:rPr lang="en-GB" sz="1450">
                <a:solidFill>
                  <a:srgbClr val="000000"/>
                </a:solidFill>
                <a:highlight>
                  <a:srgbClr val="FFFFFF"/>
                </a:highlight>
                <a:latin typeface="Arial"/>
                <a:ea typeface="Arial"/>
                <a:cs typeface="Arial"/>
                <a:sym typeface="Arial"/>
              </a:rPr>
              <a:t>			3)imultis		</a:t>
            </a:r>
            <a:endParaRPr sz="1450">
              <a:solidFill>
                <a:srgbClr val="000000"/>
              </a:solidFill>
              <a:highlight>
                <a:srgbClr val="FFFFFF"/>
              </a:highlight>
              <a:latin typeface="Arial"/>
              <a:ea typeface="Arial"/>
              <a:cs typeface="Arial"/>
              <a:sym typeface="Arial"/>
            </a:endParaRPr>
          </a:p>
          <a:p>
            <a:pPr indent="-320675" lvl="0" marL="457200" rtl="0" algn="l">
              <a:lnSpc>
                <a:spcPct val="115000"/>
              </a:lnSpc>
              <a:spcBef>
                <a:spcPts val="0"/>
              </a:spcBef>
              <a:spcAft>
                <a:spcPts val="0"/>
              </a:spcAft>
              <a:buClr>
                <a:srgbClr val="000000"/>
              </a:buClr>
              <a:buSzPts val="1450"/>
              <a:buFont typeface="Arial"/>
              <a:buChar char="●"/>
            </a:pPr>
            <a:r>
              <a:rPr lang="en-GB" sz="1450">
                <a:solidFill>
                  <a:srgbClr val="000000"/>
                </a:solidFill>
                <a:highlight>
                  <a:srgbClr val="FFFFFF"/>
                </a:highlight>
                <a:latin typeface="Arial"/>
                <a:ea typeface="Arial"/>
                <a:cs typeface="Arial"/>
                <a:sym typeface="Arial"/>
              </a:rPr>
              <a:t>The dlib library  is used to construct our face embeddings used for the actual recognition process.</a:t>
            </a:r>
            <a:endParaRPr sz="1450">
              <a:solidFill>
                <a:srgbClr val="000000"/>
              </a:solidFill>
              <a:highlight>
                <a:srgbClr val="FFFFFF"/>
              </a:highlight>
              <a:latin typeface="Arial"/>
              <a:ea typeface="Arial"/>
              <a:cs typeface="Arial"/>
              <a:sym typeface="Arial"/>
            </a:endParaRPr>
          </a:p>
          <a:p>
            <a:pPr indent="-320675" lvl="0" marL="457200" rtl="0" algn="l">
              <a:lnSpc>
                <a:spcPct val="115000"/>
              </a:lnSpc>
              <a:spcBef>
                <a:spcPts val="0"/>
              </a:spcBef>
              <a:spcAft>
                <a:spcPts val="0"/>
              </a:spcAft>
              <a:buClr>
                <a:srgbClr val="000000"/>
              </a:buClr>
              <a:buSzPts val="1450"/>
              <a:buFont typeface="Arial"/>
              <a:buChar char="●"/>
            </a:pPr>
            <a:r>
              <a:rPr lang="en-GB" sz="1450">
                <a:solidFill>
                  <a:srgbClr val="000000"/>
                </a:solidFill>
                <a:highlight>
                  <a:srgbClr val="FFFFFF"/>
                </a:highlight>
                <a:latin typeface="Arial"/>
                <a:ea typeface="Arial"/>
                <a:cs typeface="Arial"/>
                <a:sym typeface="Arial"/>
              </a:rPr>
              <a:t>The face_recognition library, wraps </a:t>
            </a:r>
            <a:r>
              <a:rPr i="1" lang="en-GB" sz="1450">
                <a:solidFill>
                  <a:srgbClr val="000000"/>
                </a:solidFill>
                <a:highlight>
                  <a:srgbClr val="FFFFFF"/>
                </a:highlight>
                <a:latin typeface="Arial"/>
                <a:ea typeface="Arial"/>
                <a:cs typeface="Arial"/>
                <a:sym typeface="Arial"/>
              </a:rPr>
              <a:t>around</a:t>
            </a:r>
            <a:r>
              <a:rPr lang="en-GB" sz="1450">
                <a:solidFill>
                  <a:srgbClr val="000000"/>
                </a:solidFill>
                <a:highlight>
                  <a:srgbClr val="FFFFFF"/>
                </a:highlight>
                <a:latin typeface="Arial"/>
                <a:ea typeface="Arial"/>
                <a:cs typeface="Arial"/>
                <a:sym typeface="Arial"/>
              </a:rPr>
              <a:t> dlib’s facial recognition functionality, making it easier to work with.</a:t>
            </a:r>
            <a:endParaRPr sz="1450">
              <a:solidFill>
                <a:srgbClr val="000000"/>
              </a:solidFill>
              <a:highlight>
                <a:srgbClr val="FFFFFF"/>
              </a:highlight>
              <a:latin typeface="Arial"/>
              <a:ea typeface="Arial"/>
              <a:cs typeface="Arial"/>
              <a:sym typeface="Arial"/>
            </a:endParaRPr>
          </a:p>
          <a:p>
            <a:pPr indent="-320675" lvl="0" marL="457200" rtl="0" algn="l">
              <a:spcBef>
                <a:spcPts val="0"/>
              </a:spcBef>
              <a:spcAft>
                <a:spcPts val="0"/>
              </a:spcAft>
              <a:buClr>
                <a:srgbClr val="000000"/>
              </a:buClr>
              <a:buSzPts val="1450"/>
              <a:buFont typeface="Arial"/>
              <a:buChar char="●"/>
            </a:pPr>
            <a:r>
              <a:rPr lang="en-GB" sz="1450">
                <a:solidFill>
                  <a:srgbClr val="000000"/>
                </a:solidFill>
                <a:latin typeface="Arial"/>
                <a:ea typeface="Arial"/>
                <a:cs typeface="Arial"/>
                <a:sym typeface="Arial"/>
              </a:rPr>
              <a:t> The imultis library is used to make basic image processing functions such as translation, rotation, resizing, skeletonization, displaying Matplotlib images, sorting contours, detecting edges, and much more easier with OpenCV and both Python.</a:t>
            </a:r>
            <a:endParaRPr sz="1450">
              <a:solidFill>
                <a:srgbClr val="000000"/>
              </a:solidFill>
              <a:highlight>
                <a:srgbClr val="FFFFFF"/>
              </a:highlight>
              <a:latin typeface="Arial"/>
              <a:ea typeface="Arial"/>
              <a:cs typeface="Arial"/>
              <a:sym typeface="Arial"/>
            </a:endParaRPr>
          </a:p>
        </p:txBody>
      </p:sp>
      <p:sp>
        <p:nvSpPr>
          <p:cNvPr id="67" name="Google Shape;67;p14"/>
          <p:cNvSpPr txBox="1"/>
          <p:nvPr/>
        </p:nvSpPr>
        <p:spPr>
          <a:xfrm>
            <a:off x="311700" y="1125150"/>
            <a:ext cx="8442000" cy="383400"/>
          </a:xfrm>
          <a:prstGeom prst="rect">
            <a:avLst/>
          </a:prstGeom>
          <a:no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800">
                <a:solidFill>
                  <a:srgbClr val="222222"/>
                </a:solidFill>
                <a:highlight>
                  <a:srgbClr val="FFFFFF"/>
                </a:highlight>
                <a:latin typeface="Roboto"/>
                <a:ea typeface="Roboto"/>
                <a:cs typeface="Roboto"/>
                <a:sym typeface="Roboto"/>
              </a:rPr>
              <a:t>OpenCV, Python with deep learning</a:t>
            </a:r>
            <a:endParaRPr b="1" sz="1800">
              <a:solidFill>
                <a:srgbClr val="222222"/>
              </a:solidFill>
              <a:highlight>
                <a:srgbClr val="FFFFFF"/>
              </a:highlight>
              <a:latin typeface="Roboto"/>
              <a:ea typeface="Roboto"/>
              <a:cs typeface="Roboto"/>
              <a:sym typeface="Roboto"/>
            </a:endParaRPr>
          </a:p>
          <a:p>
            <a:pPr indent="0" lvl="0" marL="0" rtl="0" algn="l">
              <a:spcBef>
                <a:spcPts val="11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Implementation Steps</a:t>
            </a:r>
            <a:endParaRPr/>
          </a:p>
        </p:txBody>
      </p:sp>
      <p:sp>
        <p:nvSpPr>
          <p:cNvPr id="73" name="Google Shape;73;p1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450">
              <a:solidFill>
                <a:srgbClr val="555555"/>
              </a:solidFill>
              <a:highlight>
                <a:srgbClr val="FFFFFF"/>
              </a:highlight>
              <a:latin typeface="Arial"/>
              <a:ea typeface="Arial"/>
              <a:cs typeface="Arial"/>
              <a:sym typeface="Arial"/>
            </a:endParaRPr>
          </a:p>
          <a:p>
            <a:pPr indent="0" lvl="0" marL="0" rtl="0" algn="l">
              <a:lnSpc>
                <a:spcPct val="100000"/>
              </a:lnSpc>
              <a:spcBef>
                <a:spcPts val="1600"/>
              </a:spcBef>
              <a:spcAft>
                <a:spcPts val="0"/>
              </a:spcAft>
              <a:buNone/>
            </a:pPr>
            <a:r>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1600"/>
              </a:spcBef>
              <a:spcAft>
                <a:spcPts val="1600"/>
              </a:spcAft>
              <a:buNone/>
            </a:pPr>
            <a:r>
              <a:t/>
            </a:r>
            <a:endParaRPr sz="1450">
              <a:solidFill>
                <a:srgbClr val="555555"/>
              </a:solidFill>
              <a:highlight>
                <a:srgbClr val="FFFFFF"/>
              </a:highlight>
              <a:latin typeface="Arial"/>
              <a:ea typeface="Arial"/>
              <a:cs typeface="Arial"/>
              <a:sym typeface="Arial"/>
            </a:endParaRPr>
          </a:p>
        </p:txBody>
      </p:sp>
      <p:sp>
        <p:nvSpPr>
          <p:cNvPr id="74" name="Google Shape;74;p15"/>
          <p:cNvSpPr txBox="1"/>
          <p:nvPr/>
        </p:nvSpPr>
        <p:spPr>
          <a:xfrm>
            <a:off x="445100" y="1171600"/>
            <a:ext cx="3944100" cy="33972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450">
              <a:solidFill>
                <a:schemeClr val="dk1"/>
              </a:solidFill>
              <a:highlight>
                <a:srgbClr val="FFFFFF"/>
              </a:highlight>
            </a:endParaRPr>
          </a:p>
          <a:p>
            <a:pPr indent="-320675" lvl="0" marL="457200" rtl="0" algn="l">
              <a:lnSpc>
                <a:spcPct val="115000"/>
              </a:lnSpc>
              <a:spcBef>
                <a:spcPts val="0"/>
              </a:spcBef>
              <a:spcAft>
                <a:spcPts val="0"/>
              </a:spcAft>
              <a:buClr>
                <a:schemeClr val="dk1"/>
              </a:buClr>
              <a:buSzPts val="1450"/>
              <a:buAutoNum type="arabicPeriod"/>
            </a:pPr>
            <a:r>
              <a:rPr lang="en-GB" sz="1450">
                <a:solidFill>
                  <a:schemeClr val="dk1"/>
                </a:solidFill>
                <a:highlight>
                  <a:srgbClr val="FFFFFF"/>
                </a:highlight>
              </a:rPr>
              <a:t>Create dataset.</a:t>
            </a:r>
            <a:endParaRPr sz="1450">
              <a:solidFill>
                <a:schemeClr val="dk1"/>
              </a:solidFill>
              <a:highlight>
                <a:srgbClr val="FFFFFF"/>
              </a:highlight>
            </a:endParaRPr>
          </a:p>
          <a:p>
            <a:pPr indent="0" lvl="0" marL="0" rtl="0" algn="l">
              <a:lnSpc>
                <a:spcPct val="115000"/>
              </a:lnSpc>
              <a:spcBef>
                <a:spcPts val="0"/>
              </a:spcBef>
              <a:spcAft>
                <a:spcPts val="0"/>
              </a:spcAft>
              <a:buNone/>
            </a:pPr>
            <a:r>
              <a:rPr lang="en-GB" sz="1450">
                <a:solidFill>
                  <a:schemeClr val="dk1"/>
                </a:solidFill>
                <a:highlight>
                  <a:srgbClr val="FFFFFF"/>
                </a:highlight>
              </a:rPr>
              <a:t>	</a:t>
            </a:r>
            <a:r>
              <a:rPr lang="en-GB" sz="1150">
                <a:solidFill>
                  <a:schemeClr val="dk1"/>
                </a:solidFill>
              </a:rPr>
              <a:t>required for training the network (larger the dataset</a:t>
            </a:r>
            <a:endParaRPr sz="1150">
              <a:solidFill>
                <a:schemeClr val="dk1"/>
              </a:solidFill>
            </a:endParaRPr>
          </a:p>
          <a:p>
            <a:pPr indent="0" lvl="0" marL="0" rtl="0" algn="l">
              <a:lnSpc>
                <a:spcPct val="115000"/>
              </a:lnSpc>
              <a:spcBef>
                <a:spcPts val="0"/>
              </a:spcBef>
              <a:spcAft>
                <a:spcPts val="0"/>
              </a:spcAft>
              <a:buNone/>
            </a:pPr>
            <a:r>
              <a:rPr lang="en-GB" sz="1150">
                <a:solidFill>
                  <a:schemeClr val="dk1"/>
                </a:solidFill>
              </a:rPr>
              <a:t>	more accurate the training)</a:t>
            </a:r>
            <a:endParaRPr sz="1150">
              <a:solidFill>
                <a:schemeClr val="dk1"/>
              </a:solidFill>
            </a:endParaRPr>
          </a:p>
          <a:p>
            <a:pPr indent="0" lvl="0" marL="0" rtl="0" algn="l">
              <a:lnSpc>
                <a:spcPct val="115000"/>
              </a:lnSpc>
              <a:spcBef>
                <a:spcPts val="0"/>
              </a:spcBef>
              <a:spcAft>
                <a:spcPts val="0"/>
              </a:spcAft>
              <a:buNone/>
            </a:pPr>
            <a:r>
              <a:t/>
            </a:r>
            <a:endParaRPr sz="1150">
              <a:solidFill>
                <a:schemeClr val="dk1"/>
              </a:solidFill>
            </a:endParaRPr>
          </a:p>
          <a:p>
            <a:pPr indent="-320675" lvl="0" marL="457200" rtl="0" algn="l">
              <a:lnSpc>
                <a:spcPct val="115000"/>
              </a:lnSpc>
              <a:spcBef>
                <a:spcPts val="0"/>
              </a:spcBef>
              <a:spcAft>
                <a:spcPts val="0"/>
              </a:spcAft>
              <a:buClr>
                <a:schemeClr val="dk1"/>
              </a:buClr>
              <a:buSzPts val="1450"/>
              <a:buAutoNum type="arabicPeriod"/>
            </a:pPr>
            <a:r>
              <a:rPr lang="en-GB" sz="1450">
                <a:solidFill>
                  <a:schemeClr val="dk1"/>
                </a:solidFill>
                <a:highlight>
                  <a:srgbClr val="FFFFFF"/>
                </a:highlight>
              </a:rPr>
              <a:t>Detect faces in dataset : </a:t>
            </a:r>
            <a:r>
              <a:rPr lang="en-GB" sz="1450">
                <a:solidFill>
                  <a:schemeClr val="dk1"/>
                </a:solidFill>
              </a:rPr>
              <a:t>hog or cnn </a:t>
            </a:r>
            <a:r>
              <a:rPr lang="en-GB" sz="1450">
                <a:solidFill>
                  <a:schemeClr val="dk1"/>
                </a:solidFill>
                <a:highlight>
                  <a:srgbClr val="FFFFFF"/>
                </a:highlight>
              </a:rPr>
              <a:t>.</a:t>
            </a:r>
            <a:endParaRPr sz="1450">
              <a:solidFill>
                <a:schemeClr val="dk1"/>
              </a:solidFill>
              <a:highlight>
                <a:srgbClr val="FFFFFF"/>
              </a:highlight>
            </a:endParaRPr>
          </a:p>
          <a:p>
            <a:pPr indent="0" lvl="0" marL="457200" rtl="0" algn="l">
              <a:lnSpc>
                <a:spcPct val="115000"/>
              </a:lnSpc>
              <a:spcBef>
                <a:spcPts val="0"/>
              </a:spcBef>
              <a:spcAft>
                <a:spcPts val="0"/>
              </a:spcAft>
              <a:buNone/>
            </a:pPr>
            <a:r>
              <a:rPr lang="en-GB" sz="1150">
                <a:solidFill>
                  <a:schemeClr val="dk1"/>
                </a:solidFill>
                <a:highlight>
                  <a:srgbClr val="FFFFFF"/>
                </a:highlight>
              </a:rPr>
              <a:t>Detection of the </a:t>
            </a:r>
            <a:r>
              <a:rPr i="1" lang="en-GB" sz="1150">
                <a:solidFill>
                  <a:schemeClr val="dk1"/>
                </a:solidFill>
                <a:highlight>
                  <a:srgbClr val="FFFFFF"/>
                </a:highlight>
              </a:rPr>
              <a:t>presence</a:t>
            </a:r>
            <a:r>
              <a:rPr lang="en-GB" sz="1150">
                <a:solidFill>
                  <a:schemeClr val="dk1"/>
                </a:solidFill>
                <a:highlight>
                  <a:srgbClr val="FFFFFF"/>
                </a:highlight>
              </a:rPr>
              <a:t> and location of a face </a:t>
            </a:r>
            <a:endParaRPr sz="1150">
              <a:solidFill>
                <a:schemeClr val="dk1"/>
              </a:solidFill>
              <a:highlight>
                <a:srgbClr val="FFFFFF"/>
              </a:highlight>
            </a:endParaRPr>
          </a:p>
          <a:p>
            <a:pPr indent="0" lvl="0" marL="457200" rtl="0" algn="l">
              <a:lnSpc>
                <a:spcPct val="115000"/>
              </a:lnSpc>
              <a:spcBef>
                <a:spcPts val="0"/>
              </a:spcBef>
              <a:spcAft>
                <a:spcPts val="0"/>
              </a:spcAft>
              <a:buNone/>
            </a:pPr>
            <a:r>
              <a:rPr lang="en-GB" sz="1150">
                <a:solidFill>
                  <a:schemeClr val="dk1"/>
                </a:solidFill>
                <a:highlight>
                  <a:srgbClr val="FFFFFF"/>
                </a:highlight>
              </a:rPr>
              <a:t>in an image, but does not identify it</a:t>
            </a:r>
            <a:endParaRPr sz="1150">
              <a:solidFill>
                <a:schemeClr val="dk1"/>
              </a:solidFill>
              <a:highlight>
                <a:srgbClr val="FFFFFF"/>
              </a:highlight>
            </a:endParaRPr>
          </a:p>
          <a:p>
            <a:pPr indent="0" lvl="0" marL="457200" rtl="0" algn="l">
              <a:lnSpc>
                <a:spcPct val="115000"/>
              </a:lnSpc>
              <a:spcBef>
                <a:spcPts val="0"/>
              </a:spcBef>
              <a:spcAft>
                <a:spcPts val="0"/>
              </a:spcAft>
              <a:buNone/>
            </a:pPr>
            <a:r>
              <a:t/>
            </a:r>
            <a:endParaRPr sz="1150">
              <a:solidFill>
                <a:schemeClr val="dk1"/>
              </a:solidFill>
              <a:highlight>
                <a:srgbClr val="FFFFFF"/>
              </a:highlight>
            </a:endParaRPr>
          </a:p>
          <a:p>
            <a:pPr indent="-320675" lvl="0" marL="457200" rtl="0" algn="l">
              <a:spcBef>
                <a:spcPts val="0"/>
              </a:spcBef>
              <a:spcAft>
                <a:spcPts val="0"/>
              </a:spcAft>
              <a:buClr>
                <a:schemeClr val="dk1"/>
              </a:buClr>
              <a:buSzPts val="1450"/>
              <a:buAutoNum type="arabicPeriod"/>
            </a:pPr>
            <a:r>
              <a:rPr lang="en-GB" sz="1450">
                <a:solidFill>
                  <a:schemeClr val="dk1"/>
                </a:solidFill>
                <a:highlight>
                  <a:schemeClr val="lt1"/>
                </a:highlight>
              </a:rPr>
              <a:t>Compute 128-d face embeddings to quantify a face.</a:t>
            </a:r>
            <a:endParaRPr sz="1450">
              <a:solidFill>
                <a:schemeClr val="dk1"/>
              </a:solidFill>
              <a:highlight>
                <a:srgbClr val="FFFFFF"/>
              </a:highlight>
            </a:endParaRPr>
          </a:p>
          <a:p>
            <a:pPr indent="0" lvl="0" marL="0" rtl="0" algn="l">
              <a:spcBef>
                <a:spcPts val="0"/>
              </a:spcBef>
              <a:spcAft>
                <a:spcPts val="0"/>
              </a:spcAft>
              <a:buNone/>
            </a:pPr>
            <a:r>
              <a:t/>
            </a:r>
            <a:endParaRPr sz="1450">
              <a:solidFill>
                <a:schemeClr val="dk1"/>
              </a:solidFill>
              <a:highlight>
                <a:srgbClr val="FFFFFF"/>
              </a:highlight>
            </a:endParaRPr>
          </a:p>
          <a:p>
            <a:pPr indent="-320675" lvl="0" marL="457200" rtl="0" algn="l">
              <a:spcBef>
                <a:spcPts val="0"/>
              </a:spcBef>
              <a:spcAft>
                <a:spcPts val="0"/>
              </a:spcAft>
              <a:buClr>
                <a:schemeClr val="dk1"/>
              </a:buClr>
              <a:buSzPts val="1450"/>
              <a:buAutoNum type="arabicPeriod"/>
            </a:pPr>
            <a:r>
              <a:rPr lang="en-GB" sz="1450">
                <a:solidFill>
                  <a:schemeClr val="dk1"/>
                </a:solidFill>
                <a:highlight>
                  <a:srgbClr val="FFFFFF"/>
                </a:highlight>
              </a:rPr>
              <a:t>Recognize faces in images and video streams by matching with the trained dataset.</a:t>
            </a:r>
            <a:endParaRPr sz="1450">
              <a:solidFill>
                <a:schemeClr val="dk1"/>
              </a:solidFill>
              <a:highlight>
                <a:srgbClr val="FFFFFF"/>
              </a:highlight>
            </a:endParaRPr>
          </a:p>
        </p:txBody>
      </p:sp>
      <p:sp>
        <p:nvSpPr>
          <p:cNvPr id="75" name="Google Shape;75;p15"/>
          <p:cNvSpPr txBox="1"/>
          <p:nvPr/>
        </p:nvSpPr>
        <p:spPr>
          <a:xfrm>
            <a:off x="4228525" y="123625"/>
            <a:ext cx="4841400" cy="47727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6" name="Google Shape;76;p15"/>
          <p:cNvPicPr preferRelativeResize="0"/>
          <p:nvPr/>
        </p:nvPicPr>
        <p:blipFill>
          <a:blip r:embed="rId3">
            <a:alphaModFix/>
          </a:blip>
          <a:stretch>
            <a:fillRect/>
          </a:stretch>
        </p:blipFill>
        <p:spPr>
          <a:xfrm>
            <a:off x="4355625" y="629300"/>
            <a:ext cx="4587201" cy="3884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idx="1" type="body"/>
          </p:nvPr>
        </p:nvSpPr>
        <p:spPr>
          <a:xfrm>
            <a:off x="284375" y="865475"/>
            <a:ext cx="8547900" cy="3703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450">
              <a:solidFill>
                <a:srgbClr val="555555"/>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lang="en-GB" sz="1450">
                <a:solidFill>
                  <a:srgbClr val="000000"/>
                </a:solidFill>
                <a:highlight>
                  <a:srgbClr val="FFFFFF"/>
                </a:highlight>
                <a:latin typeface="Arial"/>
                <a:ea typeface="Arial"/>
                <a:cs typeface="Arial"/>
                <a:sym typeface="Arial"/>
              </a:rPr>
              <a:t>The anchor and positive image both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lang="en-GB" sz="1450">
                <a:solidFill>
                  <a:srgbClr val="000000"/>
                </a:solidFill>
                <a:highlight>
                  <a:srgbClr val="FFFFFF"/>
                </a:highlight>
                <a:latin typeface="Arial"/>
                <a:ea typeface="Arial"/>
                <a:cs typeface="Arial"/>
                <a:sym typeface="Arial"/>
              </a:rPr>
              <a:t>belong to the same person/face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lang="en-GB" sz="1450">
                <a:solidFill>
                  <a:srgbClr val="000000"/>
                </a:solidFill>
                <a:highlight>
                  <a:srgbClr val="FFFFFF"/>
                </a:highlight>
                <a:latin typeface="Arial"/>
                <a:ea typeface="Arial"/>
                <a:cs typeface="Arial"/>
                <a:sym typeface="Arial"/>
              </a:rPr>
              <a:t>while the negative image does not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lang="en-GB" sz="1450">
                <a:solidFill>
                  <a:srgbClr val="000000"/>
                </a:solidFill>
                <a:highlight>
                  <a:srgbClr val="FFFFFF"/>
                </a:highlight>
                <a:latin typeface="Arial"/>
                <a:ea typeface="Arial"/>
                <a:cs typeface="Arial"/>
                <a:sym typeface="Arial"/>
              </a:rPr>
              <a:t>contain the same face.</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lang="en-GB" sz="1450">
                <a:solidFill>
                  <a:srgbClr val="000000"/>
                </a:solidFill>
                <a:highlight>
                  <a:srgbClr val="FFFFFF"/>
                </a:highlight>
                <a:latin typeface="Arial"/>
                <a:ea typeface="Arial"/>
                <a:cs typeface="Arial"/>
                <a:sym typeface="Arial"/>
              </a:rPr>
              <a:t>The neural network computes the </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GB" sz="1450">
                <a:solidFill>
                  <a:srgbClr val="000000"/>
                </a:solidFill>
                <a:highlight>
                  <a:srgbClr val="FFFFFF"/>
                </a:highlight>
                <a:latin typeface="Arial"/>
                <a:ea typeface="Arial"/>
                <a:cs typeface="Arial"/>
                <a:sym typeface="Arial"/>
              </a:rPr>
              <a:t>128-d embeddings for each face and then tweaks the weights of the network (via the triplet loss function) such that:</a:t>
            </a:r>
            <a:endParaRPr sz="1450">
              <a:solidFill>
                <a:srgbClr val="000000"/>
              </a:solidFill>
              <a:highlight>
                <a:srgbClr val="FFFFFF"/>
              </a:highlight>
              <a:latin typeface="Arial"/>
              <a:ea typeface="Arial"/>
              <a:cs typeface="Arial"/>
              <a:sym typeface="Arial"/>
            </a:endParaRPr>
          </a:p>
          <a:p>
            <a:pPr indent="-320675" lvl="0" marL="457200" rtl="0" algn="l">
              <a:lnSpc>
                <a:spcPct val="100000"/>
              </a:lnSpc>
              <a:spcBef>
                <a:spcPts val="0"/>
              </a:spcBef>
              <a:spcAft>
                <a:spcPts val="0"/>
              </a:spcAft>
              <a:buClr>
                <a:srgbClr val="000000"/>
              </a:buClr>
              <a:buSzPts val="1450"/>
              <a:buFont typeface="Arial"/>
              <a:buAutoNum type="arabicPeriod"/>
            </a:pPr>
            <a:r>
              <a:rPr lang="en-GB" sz="1450">
                <a:solidFill>
                  <a:srgbClr val="000000"/>
                </a:solidFill>
                <a:highlight>
                  <a:srgbClr val="FFFFFF"/>
                </a:highlight>
                <a:latin typeface="Arial"/>
                <a:ea typeface="Arial"/>
                <a:cs typeface="Arial"/>
                <a:sym typeface="Arial"/>
              </a:rPr>
              <a:t>The 128-d embeddings of the anchor and positive image lie closer together</a:t>
            </a:r>
            <a:endParaRPr sz="1450">
              <a:solidFill>
                <a:srgbClr val="000000"/>
              </a:solidFill>
              <a:highlight>
                <a:srgbClr val="FFFFFF"/>
              </a:highlight>
              <a:latin typeface="Arial"/>
              <a:ea typeface="Arial"/>
              <a:cs typeface="Arial"/>
              <a:sym typeface="Arial"/>
            </a:endParaRPr>
          </a:p>
          <a:p>
            <a:pPr indent="-320675" lvl="0" marL="457200" rtl="0" algn="l">
              <a:lnSpc>
                <a:spcPct val="100000"/>
              </a:lnSpc>
              <a:spcBef>
                <a:spcPts val="0"/>
              </a:spcBef>
              <a:spcAft>
                <a:spcPts val="0"/>
              </a:spcAft>
              <a:buClr>
                <a:srgbClr val="000000"/>
              </a:buClr>
              <a:buSzPts val="1450"/>
              <a:buFont typeface="Arial"/>
              <a:buAutoNum type="arabicPeriod"/>
            </a:pPr>
            <a:r>
              <a:rPr lang="en-GB" sz="1450">
                <a:solidFill>
                  <a:srgbClr val="000000"/>
                </a:solidFill>
                <a:highlight>
                  <a:srgbClr val="FFFFFF"/>
                </a:highlight>
                <a:latin typeface="Arial"/>
                <a:ea typeface="Arial"/>
                <a:cs typeface="Arial"/>
                <a:sym typeface="Arial"/>
              </a:rPr>
              <a:t>While at the same time, pushing the embeddings for the negative image father away</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1100"/>
              </a:spcBef>
              <a:spcAft>
                <a:spcPts val="0"/>
              </a:spcAft>
              <a:buClr>
                <a:schemeClr val="dk1"/>
              </a:buClr>
              <a:buSzPts val="1100"/>
              <a:buFont typeface="Arial"/>
              <a:buNone/>
            </a:pPr>
            <a:r>
              <a:rPr lang="en-GB" sz="1450">
                <a:solidFill>
                  <a:srgbClr val="000000"/>
                </a:solidFill>
                <a:highlight>
                  <a:srgbClr val="FFFFFF"/>
                </a:highlight>
                <a:latin typeface="Arial"/>
                <a:ea typeface="Arial"/>
                <a:cs typeface="Arial"/>
                <a:sym typeface="Arial"/>
              </a:rPr>
              <a:t>In this manner, the network is able to learn to quantify faces and return highly robust and discriminating embeddings suitable for face recognition.</a:t>
            </a:r>
            <a:endParaRPr sz="1450">
              <a:solidFill>
                <a:srgbClr val="000000"/>
              </a:solidFill>
              <a:highlight>
                <a:srgbClr val="FFFFFF"/>
              </a:highlight>
              <a:latin typeface="Arial"/>
              <a:ea typeface="Arial"/>
              <a:cs typeface="Arial"/>
              <a:sym typeface="Arial"/>
            </a:endParaRPr>
          </a:p>
          <a:p>
            <a:pPr indent="0" lvl="0" marL="0" rtl="0" algn="l">
              <a:lnSpc>
                <a:spcPct val="100000"/>
              </a:lnSpc>
              <a:spcBef>
                <a:spcPts val="1300"/>
              </a:spcBef>
              <a:spcAft>
                <a:spcPts val="0"/>
              </a:spcAft>
              <a:buClr>
                <a:schemeClr val="dk1"/>
              </a:buClr>
              <a:buSzPts val="1100"/>
              <a:buFont typeface="Arial"/>
              <a:buNone/>
            </a:pPr>
            <a:r>
              <a:t/>
            </a:r>
            <a:endParaRPr sz="11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
        <p:nvSpPr>
          <p:cNvPr id="82" name="Google Shape;82;p16"/>
          <p:cNvSpPr txBox="1"/>
          <p:nvPr/>
        </p:nvSpPr>
        <p:spPr>
          <a:xfrm>
            <a:off x="284375" y="321475"/>
            <a:ext cx="8547900" cy="395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Old Standard TT"/>
                <a:ea typeface="Old Standard TT"/>
                <a:cs typeface="Old Standard TT"/>
                <a:sym typeface="Old Standard TT"/>
              </a:rPr>
              <a:t>Process of deep learning</a:t>
            </a:r>
            <a:endParaRPr b="1" sz="1800">
              <a:latin typeface="Old Standard TT"/>
              <a:ea typeface="Old Standard TT"/>
              <a:cs typeface="Old Standard TT"/>
              <a:sym typeface="Old Standard TT"/>
            </a:endParaRPr>
          </a:p>
          <a:p>
            <a:pPr indent="0" lvl="0" marL="0" rtl="0" algn="l">
              <a:spcBef>
                <a:spcPts val="0"/>
              </a:spcBef>
              <a:spcAft>
                <a:spcPts val="0"/>
              </a:spcAft>
              <a:buNone/>
            </a:pPr>
            <a:r>
              <a:t/>
            </a:r>
            <a:endParaRPr b="1" sz="1800">
              <a:latin typeface="Old Standard TT"/>
              <a:ea typeface="Old Standard TT"/>
              <a:cs typeface="Old Standard TT"/>
              <a:sym typeface="Old Standard TT"/>
            </a:endParaRPr>
          </a:p>
        </p:txBody>
      </p:sp>
      <p:sp>
        <p:nvSpPr>
          <p:cNvPr id="83" name="Google Shape;83;p16"/>
          <p:cNvSpPr txBox="1"/>
          <p:nvPr/>
        </p:nvSpPr>
        <p:spPr>
          <a:xfrm>
            <a:off x="3256175" y="717175"/>
            <a:ext cx="5576100" cy="20031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p16"/>
          <p:cNvPicPr preferRelativeResize="0"/>
          <p:nvPr/>
        </p:nvPicPr>
        <p:blipFill>
          <a:blip r:embed="rId3">
            <a:alphaModFix/>
          </a:blip>
          <a:stretch>
            <a:fillRect/>
          </a:stretch>
        </p:blipFill>
        <p:spPr>
          <a:xfrm>
            <a:off x="3467325" y="1107650"/>
            <a:ext cx="5153801" cy="122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idx="1" type="body"/>
          </p:nvPr>
        </p:nvSpPr>
        <p:spPr>
          <a:xfrm>
            <a:off x="311700" y="1149875"/>
            <a:ext cx="8520600" cy="3419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0675" lvl="0" marL="457200" rtl="0" algn="l">
              <a:spcBef>
                <a:spcPts val="0"/>
              </a:spcBef>
              <a:spcAft>
                <a:spcPts val="0"/>
              </a:spcAft>
              <a:buSzPts val="1450"/>
              <a:buFont typeface="Arial"/>
              <a:buAutoNum type="arabicPeriod"/>
            </a:pPr>
            <a:r>
              <a:rPr lang="en-GB" sz="1450">
                <a:latin typeface="Arial"/>
                <a:ea typeface="Arial"/>
                <a:cs typeface="Arial"/>
                <a:sym typeface="Arial"/>
              </a:rPr>
              <a:t>To access our camera we’re using the VideoStream class from</a:t>
            </a:r>
            <a:r>
              <a:rPr lang="en-GB" sz="1450">
                <a:uFill>
                  <a:noFill/>
                </a:uFill>
                <a:latin typeface="Arial"/>
                <a:ea typeface="Arial"/>
                <a:cs typeface="Arial"/>
                <a:sym typeface="Arial"/>
                <a:hlinkClick r:id="rId3"/>
              </a:rPr>
              <a:t> </a:t>
            </a:r>
            <a:r>
              <a:rPr lang="en-GB" sz="1450">
                <a:latin typeface="Arial"/>
                <a:ea typeface="Arial"/>
                <a:cs typeface="Arial"/>
                <a:sym typeface="Arial"/>
              </a:rPr>
              <a:t>imutils.</a:t>
            </a:r>
            <a:endParaRPr sz="1450">
              <a:latin typeface="Arial"/>
              <a:ea typeface="Arial"/>
              <a:cs typeface="Arial"/>
              <a:sym typeface="Arial"/>
            </a:endParaRPr>
          </a:p>
          <a:p>
            <a:pPr indent="-320675" lvl="0" marL="457200" rtl="0" algn="l">
              <a:spcBef>
                <a:spcPts val="0"/>
              </a:spcBef>
              <a:spcAft>
                <a:spcPts val="0"/>
              </a:spcAft>
              <a:buSzPts val="1450"/>
              <a:buFont typeface="Arial"/>
              <a:buAutoNum type="arabicPeriod"/>
            </a:pPr>
            <a:r>
              <a:rPr lang="en-GB" sz="1450">
                <a:latin typeface="Arial"/>
                <a:ea typeface="Arial"/>
                <a:cs typeface="Arial"/>
                <a:sym typeface="Arial"/>
              </a:rPr>
              <a:t>Then we have to grab a frame from the video stream.</a:t>
            </a:r>
            <a:endParaRPr sz="1450">
              <a:latin typeface="Arial"/>
              <a:ea typeface="Arial"/>
              <a:cs typeface="Arial"/>
              <a:sym typeface="Arial"/>
            </a:endParaRPr>
          </a:p>
          <a:p>
            <a:pPr indent="-320675" lvl="0" marL="457200" rtl="0" algn="l">
              <a:spcBef>
                <a:spcPts val="0"/>
              </a:spcBef>
              <a:spcAft>
                <a:spcPts val="0"/>
              </a:spcAft>
              <a:buSzPts val="1450"/>
              <a:buFont typeface="Arial"/>
              <a:buAutoNum type="arabicPeriod"/>
            </a:pPr>
            <a:r>
              <a:rPr lang="en-GB" sz="1450">
                <a:latin typeface="Arial"/>
                <a:ea typeface="Arial"/>
                <a:cs typeface="Arial"/>
                <a:sym typeface="Arial"/>
              </a:rPr>
              <a:t>We read the frame , preprocess, then detect face bounding boxes and calculate encodings  for each bounding box.</a:t>
            </a:r>
            <a:endParaRPr sz="1450">
              <a:latin typeface="Arial"/>
              <a:ea typeface="Arial"/>
              <a:cs typeface="Arial"/>
              <a:sym typeface="Arial"/>
            </a:endParaRPr>
          </a:p>
          <a:p>
            <a:pPr indent="-320675" lvl="0" marL="457200" rtl="0" algn="l">
              <a:spcBef>
                <a:spcPts val="0"/>
              </a:spcBef>
              <a:spcAft>
                <a:spcPts val="0"/>
              </a:spcAft>
              <a:buSzPts val="1450"/>
              <a:buFont typeface="Arial"/>
              <a:buAutoNum type="arabicPeriod"/>
            </a:pPr>
            <a:r>
              <a:rPr lang="en-GB" sz="1450">
                <a:latin typeface="Arial"/>
                <a:ea typeface="Arial"/>
                <a:cs typeface="Arial"/>
                <a:sym typeface="Arial"/>
              </a:rPr>
              <a:t>After detecting face in the frame, the compare_faces  function is computing the Euclidean distance between the candidate embedding and all faces in our dataset:</a:t>
            </a:r>
            <a:endParaRPr sz="1450">
              <a:latin typeface="Arial"/>
              <a:ea typeface="Arial"/>
              <a:cs typeface="Arial"/>
              <a:sym typeface="Arial"/>
            </a:endParaRPr>
          </a:p>
          <a:p>
            <a:pPr indent="-320675" lvl="1" marL="914400" rtl="0" algn="l">
              <a:spcBef>
                <a:spcPts val="0"/>
              </a:spcBef>
              <a:spcAft>
                <a:spcPts val="0"/>
              </a:spcAft>
              <a:buSzPts val="1450"/>
              <a:buFont typeface="Arial"/>
              <a:buAutoNum type="alphaLcPeriod"/>
            </a:pPr>
            <a:r>
              <a:rPr lang="en-GB" sz="1450">
                <a:latin typeface="Arial"/>
                <a:ea typeface="Arial"/>
                <a:cs typeface="Arial"/>
                <a:sym typeface="Arial"/>
              </a:rPr>
              <a:t>If the distance is below some tolerance (the smaller the tolerance, the more strict our facial recognition system will be) then we return True , </a:t>
            </a:r>
            <a:r>
              <a:rPr b="1" lang="en-GB" sz="1450">
                <a:latin typeface="Arial"/>
                <a:ea typeface="Arial"/>
                <a:cs typeface="Arial"/>
                <a:sym typeface="Arial"/>
              </a:rPr>
              <a:t>indicating the faces match.</a:t>
            </a:r>
            <a:endParaRPr b="1" sz="1450">
              <a:latin typeface="Arial"/>
              <a:ea typeface="Arial"/>
              <a:cs typeface="Arial"/>
              <a:sym typeface="Arial"/>
            </a:endParaRPr>
          </a:p>
          <a:p>
            <a:pPr indent="-320675" lvl="1" marL="914400" rtl="0" algn="l">
              <a:spcBef>
                <a:spcPts val="0"/>
              </a:spcBef>
              <a:spcAft>
                <a:spcPts val="0"/>
              </a:spcAft>
              <a:buSzPts val="1450"/>
              <a:buFont typeface="Arial"/>
              <a:buAutoNum type="alphaLcPeriod"/>
            </a:pPr>
            <a:r>
              <a:rPr lang="en-GB" sz="1450">
                <a:latin typeface="Arial"/>
                <a:ea typeface="Arial"/>
                <a:cs typeface="Arial"/>
                <a:sym typeface="Arial"/>
              </a:rPr>
              <a:t>Otherwise, if the distance is above the tolerance threshold we return False  as</a:t>
            </a:r>
            <a:r>
              <a:rPr b="1" lang="en-GB" sz="1450">
                <a:latin typeface="Arial"/>
                <a:ea typeface="Arial"/>
                <a:cs typeface="Arial"/>
                <a:sym typeface="Arial"/>
              </a:rPr>
              <a:t> the faces do not match.</a:t>
            </a:r>
            <a:endParaRPr sz="1450">
              <a:latin typeface="Arial"/>
              <a:ea typeface="Arial"/>
              <a:cs typeface="Arial"/>
              <a:sym typeface="Arial"/>
            </a:endParaRPr>
          </a:p>
          <a:p>
            <a:pPr indent="-320675" lvl="0" marL="457200" rtl="0" algn="l">
              <a:spcBef>
                <a:spcPts val="0"/>
              </a:spcBef>
              <a:spcAft>
                <a:spcPts val="0"/>
              </a:spcAft>
              <a:buSzPts val="1450"/>
              <a:buFont typeface="Arial"/>
              <a:buAutoNum type="arabicPeriod"/>
            </a:pPr>
            <a:r>
              <a:rPr lang="en-GB" sz="1450">
                <a:latin typeface="Arial"/>
                <a:ea typeface="Arial"/>
                <a:cs typeface="Arial"/>
                <a:sym typeface="Arial"/>
              </a:rPr>
              <a:t>Given our matches list we can compute the number of “votes” for each name (number of True  values associated with each name), tally up the votes, and select the person’s name with the most corresponding votes.</a:t>
            </a:r>
            <a:endParaRPr sz="1450">
              <a:latin typeface="Arial"/>
              <a:ea typeface="Arial"/>
              <a:cs typeface="Arial"/>
              <a:sym typeface="Arial"/>
            </a:endParaRPr>
          </a:p>
          <a:p>
            <a:pPr indent="0" lvl="0" marL="0" rtl="0" algn="l">
              <a:spcBef>
                <a:spcPts val="0"/>
              </a:spcBef>
              <a:spcAft>
                <a:spcPts val="0"/>
              </a:spcAft>
              <a:buNone/>
            </a:pPr>
            <a:r>
              <a:t/>
            </a:r>
            <a:endParaRPr sz="1450">
              <a:latin typeface="Arial"/>
              <a:ea typeface="Arial"/>
              <a:cs typeface="Arial"/>
              <a:sym typeface="Arial"/>
            </a:endParaRPr>
          </a:p>
        </p:txBody>
      </p:sp>
      <p:sp>
        <p:nvSpPr>
          <p:cNvPr id="90" name="Google Shape;90;p17"/>
          <p:cNvSpPr txBox="1"/>
          <p:nvPr/>
        </p:nvSpPr>
        <p:spPr>
          <a:xfrm>
            <a:off x="311700" y="333825"/>
            <a:ext cx="8417400" cy="717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3000">
                <a:latin typeface="Old Standard TT"/>
                <a:ea typeface="Old Standard TT"/>
                <a:cs typeface="Old Standard TT"/>
                <a:sym typeface="Old Standard TT"/>
              </a:rPr>
              <a:t>Recognizing faces from video stream</a:t>
            </a:r>
            <a:endParaRPr sz="3000">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3278700" cy="35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rPr lang="en-GB" sz="1450"/>
              <a:t>Here’s one of the datasets that we created for training.</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a:p>
            <a:pPr indent="0" lvl="0" marL="0" rtl="0" algn="l">
              <a:spcBef>
                <a:spcPts val="0"/>
              </a:spcBef>
              <a:spcAft>
                <a:spcPts val="0"/>
              </a:spcAft>
              <a:buNone/>
            </a:pPr>
            <a:r>
              <a:t/>
            </a:r>
            <a:endParaRPr sz="1450"/>
          </a:p>
        </p:txBody>
      </p:sp>
      <p:sp>
        <p:nvSpPr>
          <p:cNvPr id="96" name="Google Shape;96;p18"/>
          <p:cNvSpPr txBox="1"/>
          <p:nvPr/>
        </p:nvSpPr>
        <p:spPr>
          <a:xfrm>
            <a:off x="3257625" y="445025"/>
            <a:ext cx="5706300" cy="41049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97" name="Google Shape;97;p18"/>
          <p:cNvPicPr preferRelativeResize="0"/>
          <p:nvPr/>
        </p:nvPicPr>
        <p:blipFill>
          <a:blip r:embed="rId3">
            <a:alphaModFix/>
          </a:blip>
          <a:stretch>
            <a:fillRect/>
          </a:stretch>
        </p:blipFill>
        <p:spPr>
          <a:xfrm>
            <a:off x="3486375" y="1021975"/>
            <a:ext cx="5248800" cy="29510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idx="1" type="body"/>
          </p:nvPr>
        </p:nvSpPr>
        <p:spPr>
          <a:xfrm>
            <a:off x="311700" y="222550"/>
            <a:ext cx="4151700" cy="46737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GB" sz="1800"/>
              <a:t>Output with names on a image</a:t>
            </a:r>
            <a:endParaRPr sz="1800"/>
          </a:p>
        </p:txBody>
      </p:sp>
      <p:sp>
        <p:nvSpPr>
          <p:cNvPr id="103" name="Google Shape;103;p19"/>
          <p:cNvSpPr txBox="1"/>
          <p:nvPr>
            <p:ph idx="2" type="body"/>
          </p:nvPr>
        </p:nvSpPr>
        <p:spPr>
          <a:xfrm>
            <a:off x="4572000" y="222550"/>
            <a:ext cx="4383000" cy="46737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GB" sz="1800"/>
              <a:t>Recognized faces in a live streaming video</a:t>
            </a:r>
            <a:endParaRPr sz="1800"/>
          </a:p>
        </p:txBody>
      </p:sp>
      <p:pic>
        <p:nvPicPr>
          <p:cNvPr id="104" name="Google Shape;104;p19"/>
          <p:cNvPicPr preferRelativeResize="0"/>
          <p:nvPr/>
        </p:nvPicPr>
        <p:blipFill>
          <a:blip r:embed="rId3">
            <a:alphaModFix/>
          </a:blip>
          <a:stretch>
            <a:fillRect/>
          </a:stretch>
        </p:blipFill>
        <p:spPr>
          <a:xfrm>
            <a:off x="311698" y="1137522"/>
            <a:ext cx="4151700" cy="3594478"/>
          </a:xfrm>
          <a:prstGeom prst="rect">
            <a:avLst/>
          </a:prstGeom>
          <a:noFill/>
          <a:ln>
            <a:noFill/>
          </a:ln>
        </p:spPr>
      </p:pic>
      <p:pic>
        <p:nvPicPr>
          <p:cNvPr id="105" name="Google Shape;105;p19"/>
          <p:cNvPicPr preferRelativeResize="0"/>
          <p:nvPr/>
        </p:nvPicPr>
        <p:blipFill rotWithShape="1">
          <a:blip r:embed="rId4">
            <a:alphaModFix/>
          </a:blip>
          <a:srcRect b="0" l="0" r="0" t="0"/>
          <a:stretch/>
        </p:blipFill>
        <p:spPr>
          <a:xfrm>
            <a:off x="4560575" y="1137525"/>
            <a:ext cx="4383000" cy="3594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457200" lvl="0" marL="2743200" rtl="0" algn="l">
              <a:spcBef>
                <a:spcPts val="0"/>
              </a:spcBef>
              <a:spcAft>
                <a:spcPts val="0"/>
              </a:spcAft>
              <a:buNone/>
            </a:pPr>
            <a:r>
              <a:rPr lang="en-GB"/>
              <a:t>Summary</a:t>
            </a:r>
            <a:endParaRPr/>
          </a:p>
        </p:txBody>
      </p:sp>
      <p:sp>
        <p:nvSpPr>
          <p:cNvPr id="111" name="Google Shape;111;p20"/>
          <p:cNvSpPr txBox="1"/>
          <p:nvPr>
            <p:ph idx="1" type="body"/>
          </p:nvPr>
        </p:nvSpPr>
        <p:spPr>
          <a:xfrm>
            <a:off x="311700" y="1171675"/>
            <a:ext cx="3999900" cy="33972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Roboto"/>
                <a:ea typeface="Roboto"/>
                <a:cs typeface="Roboto"/>
                <a:sym typeface="Roboto"/>
              </a:rPr>
              <a:t>What we achieved have so far</a:t>
            </a:r>
            <a:endParaRPr sz="1800">
              <a:latin typeface="Roboto"/>
              <a:ea typeface="Roboto"/>
              <a:cs typeface="Roboto"/>
              <a:sym typeface="Roboto"/>
            </a:endParaRPr>
          </a:p>
          <a:p>
            <a:pPr indent="-342900" lvl="0" marL="457200" rtl="0" algn="l">
              <a:spcBef>
                <a:spcPts val="1600"/>
              </a:spcBef>
              <a:spcAft>
                <a:spcPts val="0"/>
              </a:spcAft>
              <a:buSzPts val="1800"/>
              <a:buFont typeface="Roboto"/>
              <a:buChar char="●"/>
            </a:pPr>
            <a:r>
              <a:rPr lang="en-GB" sz="1800">
                <a:latin typeface="Roboto"/>
                <a:ea typeface="Roboto"/>
                <a:cs typeface="Roboto"/>
                <a:sym typeface="Roboto"/>
              </a:rPr>
              <a:t>Training of datasets with the input images</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GB" sz="1800">
                <a:latin typeface="Roboto"/>
                <a:ea typeface="Roboto"/>
                <a:cs typeface="Roboto"/>
                <a:sym typeface="Roboto"/>
              </a:rPr>
              <a:t>Detection of face</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GB" sz="1800">
                <a:latin typeface="Roboto"/>
                <a:ea typeface="Roboto"/>
                <a:cs typeface="Roboto"/>
                <a:sym typeface="Roboto"/>
              </a:rPr>
              <a:t>Recognition of face in real time streaming</a:t>
            </a:r>
            <a:endParaRPr sz="1800">
              <a:latin typeface="Roboto"/>
              <a:ea typeface="Roboto"/>
              <a:cs typeface="Roboto"/>
              <a:sym typeface="Roboto"/>
            </a:endParaRPr>
          </a:p>
        </p:txBody>
      </p:sp>
      <p:sp>
        <p:nvSpPr>
          <p:cNvPr id="112" name="Google Shape;112;p20"/>
          <p:cNvSpPr txBox="1"/>
          <p:nvPr>
            <p:ph idx="2" type="body"/>
          </p:nvPr>
        </p:nvSpPr>
        <p:spPr>
          <a:xfrm>
            <a:off x="4832400" y="1171675"/>
            <a:ext cx="3999900" cy="33972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Roboto"/>
                <a:ea typeface="Roboto"/>
                <a:cs typeface="Roboto"/>
                <a:sym typeface="Roboto"/>
              </a:rPr>
              <a:t>Next Course of action</a:t>
            </a:r>
            <a:endParaRPr sz="1800">
              <a:latin typeface="Roboto"/>
              <a:ea typeface="Roboto"/>
              <a:cs typeface="Roboto"/>
              <a:sym typeface="Roboto"/>
            </a:endParaRPr>
          </a:p>
          <a:p>
            <a:pPr indent="-342900" lvl="0" marL="457200" rtl="0" algn="l">
              <a:spcBef>
                <a:spcPts val="1600"/>
              </a:spcBef>
              <a:spcAft>
                <a:spcPts val="0"/>
              </a:spcAft>
              <a:buSzPts val="1800"/>
              <a:buFont typeface="Roboto"/>
              <a:buChar char="●"/>
            </a:pPr>
            <a:r>
              <a:rPr lang="en-GB" sz="1800">
                <a:latin typeface="Roboto"/>
                <a:ea typeface="Roboto"/>
                <a:cs typeface="Roboto"/>
                <a:sym typeface="Roboto"/>
              </a:rPr>
              <a:t>Adding the unknown datasets in real time streaming.</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GB" sz="1800">
                <a:latin typeface="Roboto"/>
                <a:ea typeface="Roboto"/>
                <a:cs typeface="Roboto"/>
                <a:sym typeface="Roboto"/>
              </a:rPr>
              <a:t>Integrate this whole structure with the a compatible device</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GB" sz="1800">
                <a:latin typeface="Roboto"/>
                <a:ea typeface="Roboto"/>
                <a:cs typeface="Roboto"/>
                <a:sym typeface="Roboto"/>
              </a:rPr>
              <a:t>Start working on our next part, that is Object Recognition</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0" lvl="0" marL="457200" rtl="0" algn="l">
              <a:spcBef>
                <a:spcPts val="0"/>
              </a:spcBef>
              <a:spcAft>
                <a:spcPts val="0"/>
              </a:spcAft>
              <a:buNone/>
            </a:pPr>
            <a:r>
              <a:rPr lang="en-GB" sz="1800">
                <a:latin typeface="Roboto"/>
                <a:ea typeface="Roboto"/>
                <a:cs typeface="Roboto"/>
                <a:sym typeface="Roboto"/>
              </a:rPr>
              <a:t> </a:t>
            </a:r>
            <a:endParaRPr sz="18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490250" y="526350"/>
            <a:ext cx="8374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					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